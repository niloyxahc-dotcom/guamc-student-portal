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54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6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1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33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5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40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7056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309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4063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93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397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31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66961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446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547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888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0881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95412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946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78724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3384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8596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5392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3794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339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773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7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4084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548640" rtlCol="0" anchor="ctr"/>
          <a:lstStyle/>
          <a:p>
            <a:pPr algn="ctr">
              <a:defRPr sz="2600" b="1">
                <a:solidFill>
                  <a:srgbClr val="102C57"/>
                </a:solidFill>
              </a:defRPr>
            </a:pPr>
            <a:r>
              <a:rPr lang="en-US" sz="2400" dirty="0" err="1"/>
              <a:t>Ilmul</a:t>
            </a:r>
            <a:r>
              <a:rPr lang="en-US" sz="2400" dirty="0"/>
              <a:t> </a:t>
            </a:r>
            <a:r>
              <a:rPr lang="en-US" sz="2400" dirty="0" err="1"/>
              <a:t>Advia</a:t>
            </a:r>
            <a:endParaRPr sz="2400" dirty="0"/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rPr sz="2400" dirty="0" err="1"/>
              <a:t>আরওয়াহ</a:t>
            </a:r>
            <a:r>
              <a:rPr sz="2400" dirty="0"/>
              <a:t> (Arwah), </a:t>
            </a:r>
            <a:r>
              <a:rPr sz="2400" dirty="0" err="1"/>
              <a:t>কোয়াহ</a:t>
            </a:r>
            <a:r>
              <a:rPr sz="2400" dirty="0"/>
              <a:t> (Quwa) ও </a:t>
            </a:r>
            <a:r>
              <a:rPr sz="2400" dirty="0" err="1"/>
              <a:t>আফ’আল</a:t>
            </a:r>
            <a:r>
              <a:rPr sz="2400" dirty="0"/>
              <a:t> (</a:t>
            </a:r>
            <a:r>
              <a:rPr sz="2400" dirty="0" err="1"/>
              <a:t>Af’al</a:t>
            </a:r>
            <a:r>
              <a:rPr sz="2400" dirty="0"/>
              <a:t>)-</a:t>
            </a:r>
            <a:r>
              <a:rPr sz="2400" dirty="0" err="1"/>
              <a:t>এর</a:t>
            </a:r>
            <a:r>
              <a:rPr sz="2400" dirty="0"/>
              <a:t> </a:t>
            </a:r>
            <a:r>
              <a:rPr sz="2400" dirty="0" err="1"/>
              <a:t>গভীর</a:t>
            </a:r>
            <a:r>
              <a:rPr sz="2400" dirty="0"/>
              <a:t> </a:t>
            </a:r>
            <a:r>
              <a:rPr sz="2400" dirty="0" err="1"/>
              <a:t>বিশ্লেষণ</a:t>
            </a:r>
            <a:r>
              <a:rPr sz="2400" dirty="0"/>
              <a:t> </a:t>
            </a:r>
            <a:r>
              <a:rPr sz="2400" dirty="0" err="1"/>
              <a:t>এবং</a:t>
            </a:r>
            <a:r>
              <a:rPr sz="2400" dirty="0"/>
              <a:t> </a:t>
            </a:r>
            <a:r>
              <a:rPr sz="2400" dirty="0" err="1"/>
              <a:t>আধুনিক</a:t>
            </a:r>
            <a:r>
              <a:rPr sz="2400" dirty="0"/>
              <a:t> </a:t>
            </a:r>
            <a:r>
              <a:rPr sz="2400" dirty="0" err="1"/>
              <a:t>চিকিৎসাবিজ্ঞানের</a:t>
            </a:r>
            <a:r>
              <a:rPr sz="2400" dirty="0"/>
              <a:t> </a:t>
            </a:r>
            <a:r>
              <a:rPr sz="2400" dirty="0" err="1"/>
              <a:t>তুলনামূলক</a:t>
            </a:r>
            <a:r>
              <a:rPr sz="2400" dirty="0"/>
              <a:t> </a:t>
            </a:r>
            <a:r>
              <a:rPr sz="2400" dirty="0" err="1"/>
              <a:t>প্রেক্ষাপট</a:t>
            </a:r>
            <a:endParaRPr sz="2400" dirty="0"/>
          </a:p>
          <a:p>
            <a:pPr>
              <a:spcBef>
                <a:spcPts val="3500"/>
              </a:spcBef>
              <a:defRPr sz="1600" b="1">
                <a:solidFill>
                  <a:srgbClr val="35A29F"/>
                </a:solidFill>
              </a:defRPr>
            </a:pPr>
            <a:r>
              <a:rPr sz="2400" dirty="0" err="1"/>
              <a:t>স্পিকার</a:t>
            </a:r>
            <a:r>
              <a:rPr sz="2400" dirty="0"/>
              <a:t>: Dr. A M Zahid Hasan, BCS (Health)</a:t>
            </a:r>
          </a:p>
          <a:p>
            <a:pPr>
              <a:spcBef>
                <a:spcPts val="500"/>
              </a:spcBef>
              <a:defRPr sz="1300">
                <a:solidFill>
                  <a:srgbClr val="1E293B"/>
                </a:solidFill>
              </a:defRPr>
            </a:pPr>
            <a:r>
              <a:rPr lang="en-US" sz="2400" dirty="0"/>
              <a:t>LECTURER, GUAMC, DHAKA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উমূরে তবাইয়াহ (Umur-e-Tabi'yah) — ৭টি মৌলিক ভিত্তি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মৌলিক</a:t>
            </a:r>
            <a:r>
              <a:rPr sz="1600" dirty="0"/>
              <a:t> </a:t>
            </a:r>
            <a:r>
              <a:rPr sz="1600" dirty="0" err="1"/>
              <a:t>চার</a:t>
            </a:r>
            <a:r>
              <a:rPr sz="1600" dirty="0"/>
              <a:t> </a:t>
            </a:r>
            <a:r>
              <a:rPr sz="1600" dirty="0" err="1"/>
              <a:t>ভিত্তি</a:t>
            </a:r>
            <a:r>
              <a:rPr sz="1600" dirty="0"/>
              <a:t> (Structural Basis)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আর্কান</a:t>
            </a:r>
            <a:r>
              <a:rPr sz="1600" dirty="0"/>
              <a:t> (Arkan): </a:t>
            </a:r>
            <a:r>
              <a:rPr sz="1600" dirty="0" err="1"/>
              <a:t>প্রাথমিক</a:t>
            </a:r>
            <a:r>
              <a:rPr sz="1600" dirty="0"/>
              <a:t> </a:t>
            </a:r>
            <a:r>
              <a:rPr sz="1600" dirty="0" err="1"/>
              <a:t>মৌলিক</a:t>
            </a:r>
            <a:r>
              <a:rPr sz="1600" dirty="0"/>
              <a:t> </a:t>
            </a:r>
            <a:r>
              <a:rPr sz="1600" dirty="0" err="1"/>
              <a:t>উপাদান</a:t>
            </a:r>
            <a:r>
              <a:rPr sz="1600" dirty="0"/>
              <a:t> (</a:t>
            </a:r>
            <a:r>
              <a:rPr sz="1600" dirty="0" err="1"/>
              <a:t>আগুন</a:t>
            </a:r>
            <a:r>
              <a:rPr sz="1600" dirty="0"/>
              <a:t>, </a:t>
            </a:r>
            <a:r>
              <a:rPr sz="1600" dirty="0" err="1"/>
              <a:t>পানি</a:t>
            </a:r>
            <a:r>
              <a:rPr sz="1600" dirty="0"/>
              <a:t>, </a:t>
            </a:r>
            <a:r>
              <a:rPr sz="1600" dirty="0" err="1"/>
              <a:t>বাতাস</a:t>
            </a:r>
            <a:r>
              <a:rPr sz="1600" dirty="0"/>
              <a:t>, </a:t>
            </a:r>
            <a:r>
              <a:rPr sz="1600" dirty="0" err="1"/>
              <a:t>মাটি</a:t>
            </a:r>
            <a:r>
              <a:rPr sz="1600" dirty="0"/>
              <a:t>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মিজাজ</a:t>
            </a:r>
            <a:r>
              <a:rPr sz="1600" dirty="0"/>
              <a:t> (</a:t>
            </a:r>
            <a:r>
              <a:rPr sz="1600" dirty="0" err="1"/>
              <a:t>Mizaj</a:t>
            </a:r>
            <a:r>
              <a:rPr sz="1600" dirty="0"/>
              <a:t>): </a:t>
            </a:r>
            <a:r>
              <a:rPr sz="1600" dirty="0" err="1"/>
              <a:t>মেজাজ</a:t>
            </a:r>
            <a:r>
              <a:rPr sz="1600" dirty="0"/>
              <a:t> </a:t>
            </a:r>
            <a:r>
              <a:rPr sz="1600" dirty="0" err="1"/>
              <a:t>বা</a:t>
            </a:r>
            <a:r>
              <a:rPr sz="1600" dirty="0"/>
              <a:t> </a:t>
            </a:r>
            <a:r>
              <a:rPr sz="1600" dirty="0" err="1"/>
              <a:t>প্রাকৃতিক</a:t>
            </a:r>
            <a:r>
              <a:rPr sz="1600" dirty="0"/>
              <a:t> </a:t>
            </a:r>
            <a:r>
              <a:rPr sz="1600" dirty="0" err="1"/>
              <a:t>ভারসাম্য</a:t>
            </a:r>
            <a:r>
              <a:rPr sz="1600" dirty="0"/>
              <a:t> (Temperament)।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আখলাত</a:t>
            </a:r>
            <a:r>
              <a:rPr sz="1600" dirty="0"/>
              <a:t> (</a:t>
            </a:r>
            <a:r>
              <a:rPr sz="1600" dirty="0" err="1"/>
              <a:t>Akhlat</a:t>
            </a:r>
            <a:r>
              <a:rPr sz="1600" dirty="0"/>
              <a:t>): </a:t>
            </a:r>
            <a:r>
              <a:rPr sz="1600" dirty="0" err="1"/>
              <a:t>চার</a:t>
            </a:r>
            <a:r>
              <a:rPr sz="1600" dirty="0"/>
              <a:t> </a:t>
            </a:r>
            <a:r>
              <a:rPr sz="1600" dirty="0" err="1"/>
              <a:t>শারীরিক</a:t>
            </a:r>
            <a:r>
              <a:rPr sz="1600" dirty="0"/>
              <a:t> </a:t>
            </a:r>
            <a:r>
              <a:rPr sz="1600" dirty="0" err="1"/>
              <a:t>রস</a:t>
            </a:r>
            <a:r>
              <a:rPr sz="1600" dirty="0"/>
              <a:t> (</a:t>
            </a:r>
            <a:r>
              <a:rPr sz="1600" dirty="0" err="1"/>
              <a:t>দম</a:t>
            </a:r>
            <a:r>
              <a:rPr sz="1600" dirty="0"/>
              <a:t>/</a:t>
            </a:r>
            <a:r>
              <a:rPr sz="1600" dirty="0" err="1"/>
              <a:t>রক্ত</a:t>
            </a:r>
            <a:r>
              <a:rPr sz="1600" dirty="0"/>
              <a:t>, </a:t>
            </a:r>
            <a:r>
              <a:rPr sz="1600" dirty="0" err="1"/>
              <a:t>বলগম</a:t>
            </a:r>
            <a:r>
              <a:rPr sz="1600" dirty="0"/>
              <a:t>/</a:t>
            </a:r>
            <a:r>
              <a:rPr sz="1600" dirty="0" err="1"/>
              <a:t>কফ</a:t>
            </a:r>
            <a:r>
              <a:rPr sz="1600" dirty="0"/>
              <a:t>, </a:t>
            </a:r>
            <a:r>
              <a:rPr sz="1600" dirty="0" err="1"/>
              <a:t>সাফরা</a:t>
            </a:r>
            <a:r>
              <a:rPr sz="1600" dirty="0"/>
              <a:t>/</a:t>
            </a:r>
            <a:r>
              <a:rPr sz="1600" dirty="0" err="1"/>
              <a:t>পিত্ত</a:t>
            </a:r>
            <a:r>
              <a:rPr sz="1600" dirty="0"/>
              <a:t>, </a:t>
            </a:r>
            <a:r>
              <a:rPr sz="1600" dirty="0" err="1"/>
              <a:t>সৌদা</a:t>
            </a:r>
            <a:r>
              <a:rPr sz="1600" dirty="0"/>
              <a:t>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আ'জা</a:t>
            </a:r>
            <a:r>
              <a:rPr sz="1600" dirty="0"/>
              <a:t> (</a:t>
            </a:r>
            <a:r>
              <a:rPr sz="1600" dirty="0" err="1"/>
              <a:t>A'za</a:t>
            </a:r>
            <a:r>
              <a:rPr sz="1600" dirty="0"/>
              <a:t>): </a:t>
            </a:r>
            <a:r>
              <a:rPr sz="1600" dirty="0" err="1"/>
              <a:t>শারীরিক</a:t>
            </a:r>
            <a:r>
              <a:rPr sz="1600" dirty="0"/>
              <a:t> </a:t>
            </a:r>
            <a:r>
              <a:rPr sz="1600" dirty="0" err="1"/>
              <a:t>অঙ্গপ্রত্যঙ্গ</a:t>
            </a:r>
            <a:r>
              <a:rPr sz="1600" dirty="0"/>
              <a:t> ও </a:t>
            </a:r>
            <a:r>
              <a:rPr sz="1600" dirty="0" err="1"/>
              <a:t>কোষকলা</a:t>
            </a:r>
            <a:r>
              <a:rPr sz="1600" dirty="0"/>
              <a:t> (Organs &amp; Tissues)।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শারীরবৃত্তীয়</a:t>
            </a:r>
            <a:r>
              <a:rPr sz="1600" dirty="0"/>
              <a:t> </a:t>
            </a:r>
            <a:r>
              <a:rPr sz="1600" dirty="0" err="1"/>
              <a:t>তিন</a:t>
            </a:r>
            <a:r>
              <a:rPr sz="1600" dirty="0"/>
              <a:t> </a:t>
            </a:r>
            <a:r>
              <a:rPr sz="1600" dirty="0" err="1"/>
              <a:t>চালিকাশক্তি</a:t>
            </a:r>
            <a:r>
              <a:rPr sz="1600" dirty="0"/>
              <a:t> (Functional Triad)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আরওয়াহ</a:t>
            </a:r>
            <a:r>
              <a:rPr sz="1600" dirty="0"/>
              <a:t> (Arwah): </a:t>
            </a:r>
            <a:r>
              <a:rPr sz="1600" dirty="0" err="1"/>
              <a:t>জীবনীশক্তি</a:t>
            </a:r>
            <a:r>
              <a:rPr sz="1600" dirty="0"/>
              <a:t> </a:t>
            </a:r>
            <a:r>
              <a:rPr sz="1600" dirty="0" err="1"/>
              <a:t>বহনকারী</a:t>
            </a:r>
            <a:r>
              <a:rPr sz="1600" dirty="0"/>
              <a:t> </a:t>
            </a:r>
            <a:r>
              <a:rPr sz="1600" dirty="0" err="1"/>
              <a:t>সূক্ষ্ম</a:t>
            </a:r>
            <a:r>
              <a:rPr sz="1600" dirty="0"/>
              <a:t> </a:t>
            </a:r>
            <a:r>
              <a:rPr sz="1600" dirty="0" err="1"/>
              <a:t>বাষ্পীয়</a:t>
            </a:r>
            <a:r>
              <a:rPr sz="1600" dirty="0"/>
              <a:t> </a:t>
            </a:r>
            <a:r>
              <a:rPr sz="1600" dirty="0" err="1"/>
              <a:t>মাধ্যম</a:t>
            </a:r>
            <a:r>
              <a:rPr sz="1600" dirty="0"/>
              <a:t> (Pneuma)।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কোয়াহ</a:t>
            </a:r>
            <a:r>
              <a:rPr sz="1600" dirty="0"/>
              <a:t> (Quwa): </a:t>
            </a:r>
            <a:r>
              <a:rPr sz="1600" dirty="0" err="1"/>
              <a:t>অঙ্গপ্রত্যঙ্গের</a:t>
            </a:r>
            <a:r>
              <a:rPr sz="1600" dirty="0"/>
              <a:t> </a:t>
            </a:r>
            <a:r>
              <a:rPr sz="1600" dirty="0" err="1"/>
              <a:t>অন্তর্নিহিত</a:t>
            </a:r>
            <a:r>
              <a:rPr sz="1600" dirty="0"/>
              <a:t> </a:t>
            </a:r>
            <a:r>
              <a:rPr sz="1600" dirty="0" err="1"/>
              <a:t>কার্যক্ষমতা</a:t>
            </a:r>
            <a:r>
              <a:rPr sz="1600" dirty="0"/>
              <a:t> </a:t>
            </a:r>
            <a:r>
              <a:rPr sz="1600" dirty="0" err="1"/>
              <a:t>বা</a:t>
            </a:r>
            <a:r>
              <a:rPr sz="1600" dirty="0"/>
              <a:t> </a:t>
            </a:r>
            <a:r>
              <a:rPr sz="1600" dirty="0" err="1"/>
              <a:t>অনুষদ</a:t>
            </a:r>
            <a:r>
              <a:rPr sz="1600" dirty="0"/>
              <a:t> (Faculties)।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আফ'আল</a:t>
            </a:r>
            <a:r>
              <a:rPr sz="1600" dirty="0"/>
              <a:t> (</a:t>
            </a:r>
            <a:r>
              <a:rPr sz="1600" dirty="0" err="1"/>
              <a:t>Af'al</a:t>
            </a:r>
            <a:r>
              <a:rPr sz="1600" dirty="0"/>
              <a:t>): </a:t>
            </a:r>
            <a:r>
              <a:rPr sz="1600" dirty="0" err="1"/>
              <a:t>ক্ষমতার</a:t>
            </a:r>
            <a:r>
              <a:rPr sz="1600" dirty="0"/>
              <a:t> </a:t>
            </a:r>
            <a:r>
              <a:rPr sz="1600" dirty="0" err="1"/>
              <a:t>চূড়ান্ত</a:t>
            </a:r>
            <a:r>
              <a:rPr sz="1600" dirty="0"/>
              <a:t> </a:t>
            </a:r>
            <a:r>
              <a:rPr sz="1600" dirty="0" err="1"/>
              <a:t>বহিঃপ্রকাশ</a:t>
            </a:r>
            <a:r>
              <a:rPr sz="1600" dirty="0"/>
              <a:t> </a:t>
            </a:r>
            <a:r>
              <a:rPr sz="1600" dirty="0" err="1"/>
              <a:t>বা</a:t>
            </a:r>
            <a:r>
              <a:rPr lang="en-US" sz="1600" dirty="0" err="1"/>
              <a:t>a</a:t>
            </a:r>
            <a:r>
              <a:rPr sz="1600" dirty="0"/>
              <a:t> </a:t>
            </a:r>
            <a:r>
              <a:rPr sz="1600" dirty="0" err="1"/>
              <a:t>শারীরিক</a:t>
            </a:r>
            <a:r>
              <a:rPr sz="1600" dirty="0"/>
              <a:t> </a:t>
            </a:r>
            <a:r>
              <a:rPr sz="1600" dirty="0" err="1"/>
              <a:t>কাজ</a:t>
            </a:r>
            <a:r>
              <a:rPr sz="1600" dirty="0"/>
              <a:t> (Functions)।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ক্লিনিক্যাল</a:t>
            </a:r>
            <a:r>
              <a:rPr sz="1600" dirty="0"/>
              <a:t> </a:t>
            </a:r>
            <a:r>
              <a:rPr sz="1600" dirty="0" err="1"/>
              <a:t>গুরুত্ব</a:t>
            </a:r>
            <a:r>
              <a:rPr sz="1600" dirty="0"/>
              <a:t>: </a:t>
            </a:r>
            <a:r>
              <a:rPr sz="1600" dirty="0" err="1"/>
              <a:t>রোগমুক্তির</a:t>
            </a:r>
            <a:r>
              <a:rPr sz="1600" dirty="0"/>
              <a:t> </a:t>
            </a:r>
            <a:r>
              <a:rPr sz="1600" dirty="0" err="1"/>
              <a:t>জন্য</a:t>
            </a:r>
            <a:r>
              <a:rPr sz="1600" dirty="0"/>
              <a:t> </a:t>
            </a:r>
            <a:r>
              <a:rPr sz="1600" dirty="0" err="1"/>
              <a:t>এই</a:t>
            </a:r>
            <a:r>
              <a:rPr sz="1600" dirty="0"/>
              <a:t> </a:t>
            </a:r>
            <a:r>
              <a:rPr sz="1600" dirty="0" err="1"/>
              <a:t>সাতটি</a:t>
            </a:r>
            <a:r>
              <a:rPr sz="1600" dirty="0"/>
              <a:t> </a:t>
            </a:r>
            <a:r>
              <a:rPr sz="1600" dirty="0" err="1"/>
              <a:t>উপাদানের</a:t>
            </a:r>
            <a:r>
              <a:rPr sz="1600" dirty="0"/>
              <a:t> </a:t>
            </a:r>
            <a:r>
              <a:rPr sz="1600" dirty="0" err="1"/>
              <a:t>সমতা</a:t>
            </a:r>
            <a:r>
              <a:rPr sz="1600" dirty="0"/>
              <a:t> </a:t>
            </a:r>
            <a:r>
              <a:rPr sz="1600" dirty="0" err="1"/>
              <a:t>রক্ষা</a:t>
            </a:r>
            <a:r>
              <a:rPr sz="1600" dirty="0"/>
              <a:t> </a:t>
            </a:r>
            <a:r>
              <a:rPr sz="1600" dirty="0" err="1"/>
              <a:t>অপরিহার্য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ইলমুল আদভিয়া ও ফার্মাকোডাইনামিক্সের সমান্তরাল দর্শন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ইউনানী</a:t>
            </a:r>
            <a:r>
              <a:rPr sz="1600" dirty="0"/>
              <a:t> </a:t>
            </a:r>
            <a:r>
              <a:rPr sz="1600" dirty="0" err="1"/>
              <a:t>ড্রাগ</a:t>
            </a:r>
            <a:r>
              <a:rPr sz="1600" dirty="0"/>
              <a:t> </a:t>
            </a:r>
            <a:r>
              <a:rPr sz="1600" dirty="0" err="1"/>
              <a:t>অ্যাকশন</a:t>
            </a:r>
            <a:r>
              <a:rPr sz="1600" dirty="0"/>
              <a:t> </a:t>
            </a:r>
            <a:r>
              <a:rPr sz="1600" dirty="0" err="1"/>
              <a:t>মেকানিজম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ভেষজ</a:t>
            </a:r>
            <a:r>
              <a:rPr sz="1600" dirty="0"/>
              <a:t> </a:t>
            </a:r>
            <a:r>
              <a:rPr sz="1600" dirty="0" err="1"/>
              <a:t>ওষুধ</a:t>
            </a:r>
            <a:r>
              <a:rPr sz="1600" dirty="0"/>
              <a:t> </a:t>
            </a:r>
            <a:r>
              <a:rPr sz="1600" dirty="0" err="1"/>
              <a:t>রোগীর</a:t>
            </a:r>
            <a:r>
              <a:rPr sz="1600" dirty="0"/>
              <a:t> </a:t>
            </a:r>
            <a:r>
              <a:rPr sz="1600" dirty="0" err="1"/>
              <a:t>দেহে</a:t>
            </a:r>
            <a:r>
              <a:rPr sz="1600" dirty="0"/>
              <a:t> </a:t>
            </a:r>
            <a:r>
              <a:rPr sz="1600" dirty="0" err="1"/>
              <a:t>মিজাজের</a:t>
            </a:r>
            <a:r>
              <a:rPr sz="1600" dirty="0"/>
              <a:t> </a:t>
            </a:r>
            <a:r>
              <a:rPr sz="1600" dirty="0" err="1"/>
              <a:t>ভারসাম্যহীনতা</a:t>
            </a:r>
            <a:r>
              <a:rPr sz="1600" dirty="0"/>
              <a:t> </a:t>
            </a:r>
            <a:r>
              <a:rPr sz="1600" dirty="0" err="1"/>
              <a:t>সংশোধন</a:t>
            </a:r>
            <a:r>
              <a:rPr sz="1600" dirty="0"/>
              <a:t> </a:t>
            </a:r>
            <a:r>
              <a:rPr sz="1600" dirty="0" err="1"/>
              <a:t>করে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ওষুধ</a:t>
            </a:r>
            <a:r>
              <a:rPr sz="1600" dirty="0"/>
              <a:t> </a:t>
            </a:r>
            <a:r>
              <a:rPr sz="1600" dirty="0" err="1"/>
              <a:t>প্রথমে</a:t>
            </a:r>
            <a:r>
              <a:rPr sz="1600" dirty="0"/>
              <a:t> </a:t>
            </a:r>
            <a:r>
              <a:rPr sz="1600" dirty="0" err="1"/>
              <a:t>আখলাত</a:t>
            </a:r>
            <a:r>
              <a:rPr sz="1600" dirty="0"/>
              <a:t> (</a:t>
            </a:r>
            <a:r>
              <a:rPr sz="1600" dirty="0" err="1"/>
              <a:t>রসের</a:t>
            </a:r>
            <a:r>
              <a:rPr sz="1600" dirty="0"/>
              <a:t> </a:t>
            </a:r>
            <a:r>
              <a:rPr sz="1600" dirty="0" err="1"/>
              <a:t>মান</a:t>
            </a:r>
            <a:r>
              <a:rPr sz="1600" dirty="0"/>
              <a:t> ও </a:t>
            </a:r>
            <a:r>
              <a:rPr sz="1600" dirty="0" err="1"/>
              <a:t>পরিমাণ</a:t>
            </a:r>
            <a:r>
              <a:rPr sz="1600" dirty="0"/>
              <a:t>)-এ </a:t>
            </a:r>
            <a:r>
              <a:rPr sz="1600" dirty="0" err="1"/>
              <a:t>রূপান্তর</a:t>
            </a:r>
            <a:r>
              <a:rPr sz="1600" dirty="0"/>
              <a:t> </a:t>
            </a:r>
            <a:r>
              <a:rPr sz="1600" dirty="0" err="1"/>
              <a:t>ঘটায়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আখলাতের</a:t>
            </a:r>
            <a:r>
              <a:rPr sz="1600" dirty="0"/>
              <a:t> </a:t>
            </a:r>
            <a:r>
              <a:rPr sz="1600" dirty="0" err="1"/>
              <a:t>পরিশুদ্ধতা</a:t>
            </a:r>
            <a:r>
              <a:rPr sz="1600" dirty="0"/>
              <a:t> </a:t>
            </a:r>
            <a:r>
              <a:rPr sz="1600" dirty="0" err="1"/>
              <a:t>আরওয়াহ</a:t>
            </a:r>
            <a:r>
              <a:rPr sz="1600" dirty="0"/>
              <a:t> ও </a:t>
            </a:r>
            <a:r>
              <a:rPr sz="1600" dirty="0" err="1"/>
              <a:t>কোয়াহকে</a:t>
            </a:r>
            <a:r>
              <a:rPr sz="1600" dirty="0"/>
              <a:t> </a:t>
            </a:r>
            <a:r>
              <a:rPr sz="1600" dirty="0" err="1"/>
              <a:t>সক্রিয়</a:t>
            </a:r>
            <a:r>
              <a:rPr sz="1600" dirty="0"/>
              <a:t> </a:t>
            </a:r>
            <a:r>
              <a:rPr sz="1600" dirty="0" err="1"/>
              <a:t>করে</a:t>
            </a:r>
            <a:r>
              <a:rPr sz="1600" dirty="0"/>
              <a:t> </a:t>
            </a:r>
            <a:r>
              <a:rPr sz="1600" dirty="0" err="1"/>
              <a:t>তোলে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চূড়ান্ত</a:t>
            </a:r>
            <a:r>
              <a:rPr sz="1600" dirty="0"/>
              <a:t> </a:t>
            </a:r>
            <a:r>
              <a:rPr sz="1600" dirty="0" err="1"/>
              <a:t>পর্যায়ে</a:t>
            </a:r>
            <a:r>
              <a:rPr sz="1600" dirty="0"/>
              <a:t> </a:t>
            </a:r>
            <a:r>
              <a:rPr sz="1600" dirty="0" err="1"/>
              <a:t>স্বাভাবিক</a:t>
            </a:r>
            <a:r>
              <a:rPr sz="1600" dirty="0"/>
              <a:t> ও </a:t>
            </a:r>
            <a:r>
              <a:rPr sz="1600" dirty="0" err="1"/>
              <a:t>সুস্থ</a:t>
            </a:r>
            <a:r>
              <a:rPr sz="1600" dirty="0"/>
              <a:t> </a:t>
            </a:r>
            <a:r>
              <a:rPr sz="1600" dirty="0" err="1"/>
              <a:t>আফ’আল</a:t>
            </a:r>
            <a:r>
              <a:rPr sz="1600" dirty="0"/>
              <a:t> </a:t>
            </a:r>
            <a:r>
              <a:rPr sz="1600" dirty="0" err="1"/>
              <a:t>পুনরুদ্ধার</a:t>
            </a:r>
            <a:r>
              <a:rPr sz="1600" dirty="0"/>
              <a:t> </a:t>
            </a:r>
            <a:r>
              <a:rPr sz="1600" dirty="0" err="1"/>
              <a:t>হয়</a:t>
            </a:r>
            <a:r>
              <a:rPr sz="1600" dirty="0"/>
              <a:t>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আধুনিক</a:t>
            </a:r>
            <a:r>
              <a:rPr sz="1600" dirty="0"/>
              <a:t> </a:t>
            </a:r>
            <a:r>
              <a:rPr sz="1600" dirty="0" err="1"/>
              <a:t>ফার্মাকোলজি</a:t>
            </a:r>
            <a:r>
              <a:rPr sz="1600" dirty="0"/>
              <a:t> ও </a:t>
            </a:r>
            <a:r>
              <a:rPr sz="1600" dirty="0" err="1"/>
              <a:t>হোমিওস্টেসিস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ড্রাগ</a:t>
            </a:r>
            <a:r>
              <a:rPr sz="1600" dirty="0"/>
              <a:t> </a:t>
            </a:r>
            <a:r>
              <a:rPr sz="1600" dirty="0" err="1"/>
              <a:t>মলিকিউল</a:t>
            </a:r>
            <a:r>
              <a:rPr sz="1600" dirty="0"/>
              <a:t> </a:t>
            </a:r>
            <a:r>
              <a:rPr sz="1600" dirty="0" err="1"/>
              <a:t>নির্দিষ্ট</a:t>
            </a:r>
            <a:r>
              <a:rPr sz="1600" dirty="0"/>
              <a:t> </a:t>
            </a:r>
            <a:r>
              <a:rPr sz="1600" dirty="0" err="1"/>
              <a:t>রিসেপ্টরের</a:t>
            </a:r>
            <a:r>
              <a:rPr sz="1600" dirty="0"/>
              <a:t> </a:t>
            </a:r>
            <a:r>
              <a:rPr sz="1600" dirty="0" err="1"/>
              <a:t>সাথে</a:t>
            </a:r>
            <a:r>
              <a:rPr sz="1600" dirty="0"/>
              <a:t> </a:t>
            </a:r>
            <a:r>
              <a:rPr sz="1600" dirty="0" err="1"/>
              <a:t>বাইন্ড</a:t>
            </a:r>
            <a:r>
              <a:rPr sz="1600" dirty="0"/>
              <a:t> </a:t>
            </a:r>
            <a:r>
              <a:rPr sz="1600" dirty="0" err="1"/>
              <a:t>করে</a:t>
            </a:r>
            <a:r>
              <a:rPr sz="1600" dirty="0"/>
              <a:t> </a:t>
            </a:r>
            <a:r>
              <a:rPr sz="1600" dirty="0" err="1"/>
              <a:t>সংকেত</a:t>
            </a:r>
            <a:r>
              <a:rPr sz="1600" dirty="0"/>
              <a:t> </a:t>
            </a:r>
            <a:r>
              <a:rPr sz="1600" dirty="0" err="1"/>
              <a:t>দেয়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সেলুলার</a:t>
            </a:r>
            <a:r>
              <a:rPr sz="1600" dirty="0"/>
              <a:t> </a:t>
            </a:r>
            <a:r>
              <a:rPr sz="1600" dirty="0" err="1"/>
              <a:t>সিগন্যালিংয়ের</a:t>
            </a:r>
            <a:r>
              <a:rPr sz="1600" dirty="0"/>
              <a:t> </a:t>
            </a:r>
            <a:r>
              <a:rPr sz="1600" dirty="0" err="1"/>
              <a:t>মাধ্যমে</a:t>
            </a:r>
            <a:r>
              <a:rPr sz="1600" dirty="0"/>
              <a:t> </a:t>
            </a:r>
            <a:r>
              <a:rPr sz="1600" dirty="0" err="1"/>
              <a:t>এনজাইম</a:t>
            </a:r>
            <a:r>
              <a:rPr sz="1600" dirty="0"/>
              <a:t> ও </a:t>
            </a:r>
            <a:r>
              <a:rPr sz="1600" dirty="0" err="1"/>
              <a:t>ট্রান্সপোর্টার</a:t>
            </a:r>
            <a:r>
              <a:rPr sz="1600" dirty="0"/>
              <a:t> </a:t>
            </a:r>
            <a:r>
              <a:rPr sz="1600" dirty="0" err="1"/>
              <a:t>সক্রিয়</a:t>
            </a:r>
            <a:r>
              <a:rPr sz="1600" dirty="0"/>
              <a:t> </a:t>
            </a:r>
            <a:r>
              <a:rPr sz="1600" dirty="0" err="1"/>
              <a:t>হয়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কোষীয়</a:t>
            </a:r>
            <a:r>
              <a:rPr sz="1600" dirty="0"/>
              <a:t> </a:t>
            </a:r>
            <a:r>
              <a:rPr sz="1600" dirty="0" err="1"/>
              <a:t>মেটাবলিজম</a:t>
            </a:r>
            <a:r>
              <a:rPr sz="1600" dirty="0"/>
              <a:t> </a:t>
            </a:r>
            <a:r>
              <a:rPr sz="1600" dirty="0" err="1"/>
              <a:t>বাড়িয়ে</a:t>
            </a:r>
            <a:r>
              <a:rPr sz="1600" dirty="0"/>
              <a:t> </a:t>
            </a:r>
            <a:r>
              <a:rPr sz="1600" dirty="0" err="1"/>
              <a:t>হোমিওস্টেসিস</a:t>
            </a:r>
            <a:r>
              <a:rPr sz="1600" dirty="0"/>
              <a:t> </a:t>
            </a:r>
            <a:r>
              <a:rPr sz="1600" dirty="0" err="1"/>
              <a:t>বজায়</a:t>
            </a:r>
            <a:r>
              <a:rPr sz="1600" dirty="0"/>
              <a:t> </a:t>
            </a:r>
            <a:r>
              <a:rPr sz="1600" dirty="0" err="1"/>
              <a:t>রাখা</a:t>
            </a:r>
            <a:r>
              <a:rPr sz="1600" dirty="0"/>
              <a:t> </a:t>
            </a:r>
            <a:r>
              <a:rPr sz="1600" dirty="0" err="1"/>
              <a:t>হয়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ইউনানীর</a:t>
            </a:r>
            <a:r>
              <a:rPr sz="1600" dirty="0"/>
              <a:t> '</a:t>
            </a:r>
            <a:r>
              <a:rPr sz="1600" dirty="0" err="1"/>
              <a:t>তবাইয়াত</a:t>
            </a:r>
            <a:r>
              <a:rPr sz="1600" dirty="0"/>
              <a:t>' </a:t>
            </a:r>
            <a:r>
              <a:rPr sz="1600" dirty="0" err="1"/>
              <a:t>এবং</a:t>
            </a:r>
            <a:r>
              <a:rPr sz="1600" dirty="0"/>
              <a:t> </a:t>
            </a:r>
            <a:r>
              <a:rPr sz="1600" dirty="0" err="1"/>
              <a:t>আধুনিক</a:t>
            </a:r>
            <a:r>
              <a:rPr sz="1600" dirty="0"/>
              <a:t> 'Milieu </a:t>
            </a:r>
            <a:r>
              <a:rPr sz="1600" dirty="0" err="1"/>
              <a:t>Intérieur</a:t>
            </a:r>
            <a:r>
              <a:rPr sz="1600" dirty="0"/>
              <a:t>' </a:t>
            </a:r>
            <a:r>
              <a:rPr sz="1600" dirty="0" err="1"/>
              <a:t>একই</a:t>
            </a:r>
            <a:r>
              <a:rPr sz="1600" dirty="0"/>
              <a:t> </a:t>
            </a:r>
            <a:r>
              <a:rPr sz="1600" dirty="0" err="1"/>
              <a:t>আত্মনিয়ন্ত্রণ</a:t>
            </a:r>
            <a:r>
              <a:rPr sz="1600" dirty="0"/>
              <a:t> </a:t>
            </a:r>
            <a:r>
              <a:rPr sz="1600" dirty="0" err="1"/>
              <a:t>রূপ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আরওয়াহ (Arwah / Spirits) — ধারণা ও উপাদান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আরওয়াহর</a:t>
            </a:r>
            <a:r>
              <a:rPr sz="1600" dirty="0"/>
              <a:t> </a:t>
            </a:r>
            <a:r>
              <a:rPr sz="1600" dirty="0" err="1"/>
              <a:t>ক্লাসিক্যাল</a:t>
            </a:r>
            <a:r>
              <a:rPr sz="1600" dirty="0"/>
              <a:t> </a:t>
            </a:r>
            <a:r>
              <a:rPr sz="1600" dirty="0" err="1"/>
              <a:t>ধারণা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আরওয়াহ</a:t>
            </a:r>
            <a:r>
              <a:rPr sz="1600" dirty="0"/>
              <a:t> </a:t>
            </a:r>
            <a:r>
              <a:rPr sz="1600" dirty="0" err="1"/>
              <a:t>হলো</a:t>
            </a:r>
            <a:r>
              <a:rPr sz="1600" dirty="0"/>
              <a:t> '</a:t>
            </a:r>
            <a:r>
              <a:rPr sz="1600" dirty="0" err="1"/>
              <a:t>রূহ</a:t>
            </a:r>
            <a:r>
              <a:rPr sz="1600" dirty="0"/>
              <a:t>'-</a:t>
            </a:r>
            <a:r>
              <a:rPr sz="1600" dirty="0" err="1"/>
              <a:t>এর</a:t>
            </a:r>
            <a:r>
              <a:rPr sz="1600" dirty="0"/>
              <a:t> </a:t>
            </a:r>
            <a:r>
              <a:rPr sz="1600" dirty="0" err="1"/>
              <a:t>বহুবচন</a:t>
            </a:r>
            <a:r>
              <a:rPr sz="1600" dirty="0"/>
              <a:t>; </a:t>
            </a:r>
            <a:r>
              <a:rPr sz="1600" dirty="0" err="1"/>
              <a:t>এটি</a:t>
            </a:r>
            <a:r>
              <a:rPr sz="1600" dirty="0"/>
              <a:t> </a:t>
            </a:r>
            <a:r>
              <a:rPr sz="1600" dirty="0" err="1"/>
              <a:t>কোনো</a:t>
            </a:r>
            <a:r>
              <a:rPr sz="1600" dirty="0"/>
              <a:t> </a:t>
            </a:r>
            <a:r>
              <a:rPr sz="1600" dirty="0" err="1"/>
              <a:t>অদৃশ্য</a:t>
            </a:r>
            <a:r>
              <a:rPr sz="1600" dirty="0"/>
              <a:t> </a:t>
            </a:r>
            <a:r>
              <a:rPr sz="1600" dirty="0" err="1"/>
              <a:t>বা</a:t>
            </a:r>
            <a:r>
              <a:rPr sz="1600" dirty="0"/>
              <a:t> </a:t>
            </a:r>
            <a:r>
              <a:rPr sz="1600" dirty="0" err="1"/>
              <a:t>অলৌকিক</a:t>
            </a:r>
            <a:r>
              <a:rPr sz="1600" dirty="0"/>
              <a:t> </a:t>
            </a:r>
            <a:r>
              <a:rPr sz="1600" dirty="0" err="1"/>
              <a:t>সত্তা</a:t>
            </a:r>
            <a:r>
              <a:rPr sz="1600" dirty="0"/>
              <a:t> </a:t>
            </a:r>
            <a:r>
              <a:rPr sz="1600" dirty="0" err="1"/>
              <a:t>নয়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এটি</a:t>
            </a:r>
            <a:r>
              <a:rPr sz="1600" dirty="0"/>
              <a:t> </a:t>
            </a:r>
            <a:r>
              <a:rPr sz="1600" dirty="0" err="1"/>
              <a:t>বাতাস</a:t>
            </a:r>
            <a:r>
              <a:rPr sz="1600" dirty="0"/>
              <a:t> ও </a:t>
            </a:r>
            <a:r>
              <a:rPr sz="1600" dirty="0" err="1"/>
              <a:t>রক্তের</a:t>
            </a:r>
            <a:r>
              <a:rPr sz="1600" dirty="0"/>
              <a:t> </a:t>
            </a:r>
            <a:r>
              <a:rPr sz="1600" dirty="0" err="1"/>
              <a:t>সূক্ষ্ম</a:t>
            </a:r>
            <a:r>
              <a:rPr sz="1600" dirty="0"/>
              <a:t> </a:t>
            </a:r>
            <a:r>
              <a:rPr sz="1600" dirty="0" err="1"/>
              <a:t>বাষ্পের</a:t>
            </a:r>
            <a:r>
              <a:rPr sz="1600" dirty="0"/>
              <a:t> </a:t>
            </a:r>
            <a:r>
              <a:rPr sz="1600" dirty="0" err="1"/>
              <a:t>সমন্বয়ে</a:t>
            </a:r>
            <a:r>
              <a:rPr sz="1600" dirty="0"/>
              <a:t> </a:t>
            </a:r>
            <a:r>
              <a:rPr sz="1600" dirty="0" err="1"/>
              <a:t>গঠিত</a:t>
            </a:r>
            <a:r>
              <a:rPr sz="1600" dirty="0"/>
              <a:t> </a:t>
            </a:r>
            <a:r>
              <a:rPr sz="1600" dirty="0" err="1"/>
              <a:t>জীবনী</a:t>
            </a:r>
            <a:r>
              <a:rPr sz="1600" dirty="0"/>
              <a:t> </a:t>
            </a:r>
            <a:r>
              <a:rPr sz="1600" dirty="0" err="1"/>
              <a:t>পরিবাহক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উপাদান</a:t>
            </a:r>
            <a:r>
              <a:rPr sz="1600" dirty="0"/>
              <a:t> ১: </a:t>
            </a:r>
            <a:r>
              <a:rPr sz="1600" dirty="0" err="1"/>
              <a:t>বাহ্যিক</a:t>
            </a:r>
            <a:r>
              <a:rPr sz="1600" dirty="0"/>
              <a:t> </a:t>
            </a:r>
            <a:r>
              <a:rPr sz="1600" dirty="0" err="1"/>
              <a:t>বাতাস</a:t>
            </a:r>
            <a:r>
              <a:rPr sz="1600" dirty="0"/>
              <a:t> </a:t>
            </a:r>
            <a:r>
              <a:rPr sz="1600" dirty="0" err="1"/>
              <a:t>বা</a:t>
            </a:r>
            <a:r>
              <a:rPr sz="1600" dirty="0"/>
              <a:t> </a:t>
            </a:r>
            <a:r>
              <a:rPr sz="1600" dirty="0" err="1"/>
              <a:t>শ্বাসবায়ু</a:t>
            </a:r>
            <a:r>
              <a:rPr sz="1600" dirty="0"/>
              <a:t> (Inhaled Air / O</a:t>
            </a:r>
            <a:r>
              <a:rPr lang="en-US" sz="1600" baseline="-25000" dirty="0"/>
              <a:t>2</a:t>
            </a:r>
            <a:r>
              <a:rPr sz="1600" dirty="0"/>
              <a:t>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উপাদান</a:t>
            </a:r>
            <a:r>
              <a:rPr sz="1600" dirty="0"/>
              <a:t> ২: </a:t>
            </a:r>
            <a:r>
              <a:rPr sz="1600" dirty="0" err="1"/>
              <a:t>আখলাত</a:t>
            </a:r>
            <a:r>
              <a:rPr sz="1600" dirty="0"/>
              <a:t>-ই-</a:t>
            </a:r>
            <a:r>
              <a:rPr sz="1600" dirty="0" err="1"/>
              <a:t>লাতিফাহ</a:t>
            </a:r>
            <a:r>
              <a:rPr sz="1600" dirty="0"/>
              <a:t> (</a:t>
            </a:r>
            <a:r>
              <a:rPr sz="1600" dirty="0" err="1"/>
              <a:t>রক্তের</a:t>
            </a:r>
            <a:r>
              <a:rPr sz="1600" dirty="0"/>
              <a:t> </a:t>
            </a:r>
            <a:r>
              <a:rPr sz="1600" dirty="0" err="1"/>
              <a:t>পরিশোধিত</a:t>
            </a:r>
            <a:r>
              <a:rPr sz="1600" dirty="0"/>
              <a:t> </a:t>
            </a:r>
            <a:r>
              <a:rPr sz="1600" dirty="0" err="1"/>
              <a:t>নির্যাস</a:t>
            </a:r>
            <a:r>
              <a:rPr sz="1600" dirty="0"/>
              <a:t>)।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আধুনিক</a:t>
            </a:r>
            <a:r>
              <a:rPr sz="1600" dirty="0"/>
              <a:t> </a:t>
            </a:r>
            <a:r>
              <a:rPr sz="1600" dirty="0" err="1"/>
              <a:t>বায়োকেমিক্যাল</a:t>
            </a:r>
            <a:r>
              <a:rPr sz="1600" dirty="0"/>
              <a:t> </a:t>
            </a:r>
            <a:r>
              <a:rPr sz="1600" dirty="0" err="1"/>
              <a:t>তাৎপর্য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ধমনিস্থ</a:t>
            </a:r>
            <a:r>
              <a:rPr sz="1600" dirty="0"/>
              <a:t> </a:t>
            </a:r>
            <a:r>
              <a:rPr sz="1600" dirty="0" err="1"/>
              <a:t>অক্সিজেন</a:t>
            </a:r>
            <a:r>
              <a:rPr sz="1600" dirty="0"/>
              <a:t> </a:t>
            </a:r>
            <a:r>
              <a:rPr sz="1600" dirty="0" err="1"/>
              <a:t>সংবহন</a:t>
            </a:r>
            <a:r>
              <a:rPr sz="1600" dirty="0"/>
              <a:t> (PaO</a:t>
            </a:r>
            <a:r>
              <a:rPr lang="en-US" sz="1600" baseline="-25000" dirty="0"/>
              <a:t>2</a:t>
            </a:r>
            <a:r>
              <a:rPr sz="1600" dirty="0"/>
              <a:t> ও Hemoglobin Saturation)।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কোষীয়</a:t>
            </a:r>
            <a:r>
              <a:rPr sz="1600" dirty="0"/>
              <a:t> </a:t>
            </a:r>
            <a:r>
              <a:rPr sz="1600" dirty="0" err="1"/>
              <a:t>শ্বসন</a:t>
            </a:r>
            <a:r>
              <a:rPr sz="1600" dirty="0"/>
              <a:t> (Cellular Respiration) ও </a:t>
            </a:r>
            <a:r>
              <a:rPr sz="1600" dirty="0" err="1"/>
              <a:t>গ্লুকোজ</a:t>
            </a:r>
            <a:r>
              <a:rPr sz="1600" dirty="0"/>
              <a:t> </a:t>
            </a:r>
            <a:r>
              <a:rPr sz="1600" dirty="0" err="1"/>
              <a:t>জারণ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মাইটোকন্ড্রিয়ায়</a:t>
            </a:r>
            <a:r>
              <a:rPr sz="1600" dirty="0"/>
              <a:t> </a:t>
            </a:r>
            <a:r>
              <a:rPr sz="1600" dirty="0" err="1"/>
              <a:t>উৎপন্ন</a:t>
            </a:r>
            <a:r>
              <a:rPr sz="1600" dirty="0"/>
              <a:t> </a:t>
            </a:r>
            <a:r>
              <a:rPr sz="1600" dirty="0" err="1"/>
              <a:t>এটিপি</a:t>
            </a:r>
            <a:r>
              <a:rPr sz="1600" dirty="0"/>
              <a:t> (ATP - Adenosine Triphosphate)।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আরওয়াহ</a:t>
            </a:r>
            <a:r>
              <a:rPr sz="1600" dirty="0"/>
              <a:t> </a:t>
            </a:r>
            <a:r>
              <a:rPr sz="1600" dirty="0" err="1"/>
              <a:t>সরাসরি</a:t>
            </a:r>
            <a:r>
              <a:rPr sz="1600" dirty="0"/>
              <a:t> </a:t>
            </a:r>
            <a:r>
              <a:rPr sz="1600" dirty="0" err="1"/>
              <a:t>কোষের</a:t>
            </a:r>
            <a:r>
              <a:rPr sz="1600" dirty="0"/>
              <a:t> </a:t>
            </a:r>
            <a:r>
              <a:rPr sz="1600" dirty="0" err="1"/>
              <a:t>ভাইটালিটি</a:t>
            </a:r>
            <a:r>
              <a:rPr sz="1600" dirty="0"/>
              <a:t> </a:t>
            </a:r>
            <a:r>
              <a:rPr sz="1600" dirty="0" err="1"/>
              <a:t>এবং</a:t>
            </a:r>
            <a:r>
              <a:rPr sz="1600" dirty="0"/>
              <a:t> </a:t>
            </a:r>
            <a:r>
              <a:rPr sz="1600" dirty="0" err="1"/>
              <a:t>অক্সিজেনেশনের</a:t>
            </a:r>
            <a:r>
              <a:rPr sz="1600" dirty="0"/>
              <a:t> </a:t>
            </a:r>
            <a:r>
              <a:rPr sz="1600" dirty="0" err="1"/>
              <a:t>সমতুল্য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আরওয়াহর প্রকারভেদ ও শারীরবৃত্তীয় কেন্দ্র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রূহ</a:t>
            </a:r>
            <a:r>
              <a:rPr sz="1600" dirty="0"/>
              <a:t>-ই-</a:t>
            </a:r>
            <a:r>
              <a:rPr sz="1600" dirty="0" err="1"/>
              <a:t>তবাইয়াহ</a:t>
            </a:r>
            <a:r>
              <a:rPr sz="1600" dirty="0"/>
              <a:t> (Natural)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কেন্দ্র</a:t>
            </a:r>
            <a:r>
              <a:rPr sz="1600" dirty="0"/>
              <a:t>: </a:t>
            </a:r>
            <a:r>
              <a:rPr sz="1600" dirty="0" err="1"/>
              <a:t>যকৃ</a:t>
            </a:r>
            <a:r>
              <a:rPr sz="1600" dirty="0"/>
              <a:t>ৎ (Liver)।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বাহক</a:t>
            </a:r>
            <a:r>
              <a:rPr sz="1600" dirty="0"/>
              <a:t>: </a:t>
            </a:r>
            <a:r>
              <a:rPr sz="1600" dirty="0" err="1"/>
              <a:t>শিরাতন্ত্র</a:t>
            </a:r>
            <a:r>
              <a:rPr sz="1600" dirty="0"/>
              <a:t> (Venous System)।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কাজ</a:t>
            </a:r>
            <a:r>
              <a:rPr sz="1600" dirty="0"/>
              <a:t>: </a:t>
            </a:r>
            <a:r>
              <a:rPr sz="1600" dirty="0" err="1"/>
              <a:t>পরিপাককৃত</a:t>
            </a:r>
            <a:r>
              <a:rPr sz="1600" dirty="0"/>
              <a:t> </a:t>
            </a:r>
            <a:r>
              <a:rPr sz="1600" dirty="0" err="1"/>
              <a:t>খাদ্যের</a:t>
            </a:r>
            <a:r>
              <a:rPr sz="1600" dirty="0"/>
              <a:t> </a:t>
            </a:r>
            <a:r>
              <a:rPr sz="1600" dirty="0" err="1"/>
              <a:t>পুষ্টি</a:t>
            </a:r>
            <a:r>
              <a:rPr sz="1600" dirty="0"/>
              <a:t> </a:t>
            </a:r>
            <a:r>
              <a:rPr sz="1600" dirty="0" err="1"/>
              <a:t>উপাদান</a:t>
            </a:r>
            <a:r>
              <a:rPr sz="1600" dirty="0"/>
              <a:t> </a:t>
            </a:r>
            <a:r>
              <a:rPr sz="1600" dirty="0" err="1"/>
              <a:t>সারা</a:t>
            </a:r>
            <a:r>
              <a:rPr sz="1600" dirty="0"/>
              <a:t> </a:t>
            </a:r>
            <a:r>
              <a:rPr sz="1600" dirty="0" err="1"/>
              <a:t>শরীরের</a:t>
            </a:r>
            <a:r>
              <a:rPr sz="1600" dirty="0"/>
              <a:t> </a:t>
            </a:r>
            <a:r>
              <a:rPr sz="1600" dirty="0" err="1"/>
              <a:t>টিস্যুতে</a:t>
            </a:r>
            <a:r>
              <a:rPr sz="1600" dirty="0"/>
              <a:t> </a:t>
            </a:r>
            <a:r>
              <a:rPr sz="1600" dirty="0" err="1"/>
              <a:t>পৌঁছে</a:t>
            </a:r>
            <a:r>
              <a:rPr sz="1600" dirty="0"/>
              <a:t> </a:t>
            </a:r>
            <a:r>
              <a:rPr sz="1600" dirty="0" err="1"/>
              <a:t>দেওয়া</a:t>
            </a:r>
            <a:r>
              <a:rPr sz="1600" dirty="0"/>
              <a:t>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রূহ</a:t>
            </a:r>
            <a:r>
              <a:rPr sz="1600" dirty="0"/>
              <a:t>-ই-</a:t>
            </a:r>
            <a:r>
              <a:rPr sz="1600" dirty="0" err="1"/>
              <a:t>হায়ওয়ানিয়াহ</a:t>
            </a:r>
            <a:r>
              <a:rPr sz="1600" dirty="0"/>
              <a:t> (Vital)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কেন্দ্র</a:t>
            </a:r>
            <a:r>
              <a:rPr sz="1600" dirty="0"/>
              <a:t>: </a:t>
            </a:r>
            <a:r>
              <a:rPr sz="1600" dirty="0" err="1"/>
              <a:t>হৃৎপিণ্ড</a:t>
            </a:r>
            <a:r>
              <a:rPr sz="1600" dirty="0"/>
              <a:t> (Heart)।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বাহক</a:t>
            </a:r>
            <a:r>
              <a:rPr sz="1600" dirty="0"/>
              <a:t>: </a:t>
            </a:r>
            <a:r>
              <a:rPr sz="1600" dirty="0" err="1"/>
              <a:t>ধমনি</a:t>
            </a:r>
            <a:r>
              <a:rPr sz="1600" dirty="0"/>
              <a:t> </a:t>
            </a:r>
            <a:r>
              <a:rPr sz="1600" dirty="0" err="1"/>
              <a:t>ব্যবস্থা</a:t>
            </a:r>
            <a:r>
              <a:rPr sz="1600" dirty="0"/>
              <a:t> (Arterial System)।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কাজ</a:t>
            </a:r>
            <a:r>
              <a:rPr sz="1600" dirty="0"/>
              <a:t>: </a:t>
            </a:r>
            <a:r>
              <a:rPr sz="1600" dirty="0" err="1"/>
              <a:t>সমগ্র</a:t>
            </a:r>
            <a:r>
              <a:rPr sz="1600" dirty="0"/>
              <a:t> </a:t>
            </a:r>
            <a:r>
              <a:rPr sz="1600" dirty="0" err="1"/>
              <a:t>দেহে</a:t>
            </a:r>
            <a:r>
              <a:rPr sz="1600" dirty="0"/>
              <a:t> </a:t>
            </a:r>
            <a:r>
              <a:rPr sz="1600" dirty="0" err="1"/>
              <a:t>প্রাণশক্তি</a:t>
            </a:r>
            <a:r>
              <a:rPr sz="1600" dirty="0"/>
              <a:t>, </a:t>
            </a:r>
            <a:r>
              <a:rPr sz="1600" dirty="0" err="1"/>
              <a:t>জীবনীপ্রবাহ</a:t>
            </a:r>
            <a:r>
              <a:rPr sz="1600" dirty="0"/>
              <a:t> </a:t>
            </a:r>
            <a:r>
              <a:rPr sz="1600" dirty="0" err="1"/>
              <a:t>এবং</a:t>
            </a:r>
            <a:r>
              <a:rPr sz="1600" dirty="0"/>
              <a:t> </a:t>
            </a:r>
            <a:r>
              <a:rPr sz="1600" dirty="0" err="1"/>
              <a:t>স্বাভাবিক</a:t>
            </a:r>
            <a:r>
              <a:rPr sz="1600" dirty="0"/>
              <a:t> </a:t>
            </a:r>
            <a:r>
              <a:rPr sz="1600" dirty="0" err="1"/>
              <a:t>শারীরিক</a:t>
            </a:r>
            <a:r>
              <a:rPr sz="1600" dirty="0"/>
              <a:t> </a:t>
            </a:r>
            <a:r>
              <a:rPr sz="1600" dirty="0" err="1"/>
              <a:t>তাপমাত্রা</a:t>
            </a:r>
            <a:r>
              <a:rPr sz="1600" dirty="0"/>
              <a:t> </a:t>
            </a:r>
            <a:r>
              <a:rPr sz="1600" dirty="0" err="1"/>
              <a:t>বজায়</a:t>
            </a:r>
            <a:r>
              <a:rPr sz="1600" dirty="0"/>
              <a:t> </a:t>
            </a:r>
            <a:r>
              <a:rPr sz="1600" dirty="0" err="1"/>
              <a:t>রাখা</a:t>
            </a:r>
            <a:r>
              <a:rPr sz="1600" dirty="0"/>
              <a:t>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2918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রূহ</a:t>
            </a:r>
            <a:r>
              <a:rPr sz="1600" dirty="0"/>
              <a:t>-ই-</a:t>
            </a:r>
            <a:r>
              <a:rPr sz="1600" dirty="0" err="1"/>
              <a:t>নাফসানিয়াহ</a:t>
            </a:r>
            <a:r>
              <a:rPr sz="1600" dirty="0"/>
              <a:t> (Psychic)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কেন্দ্র</a:t>
            </a:r>
            <a:r>
              <a:rPr sz="1600" dirty="0"/>
              <a:t>: </a:t>
            </a:r>
            <a:r>
              <a:rPr sz="1600" dirty="0" err="1"/>
              <a:t>মস্তিষ্ক</a:t>
            </a:r>
            <a:r>
              <a:rPr sz="1600" dirty="0"/>
              <a:t> (Brain)।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বাহক</a:t>
            </a:r>
            <a:r>
              <a:rPr sz="1600" dirty="0"/>
              <a:t>: </a:t>
            </a:r>
            <a:r>
              <a:rPr sz="1600" dirty="0" err="1"/>
              <a:t>স্নায়ুতন্ত্র</a:t>
            </a:r>
            <a:r>
              <a:rPr sz="1600" dirty="0"/>
              <a:t> (Nerves)।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কাজ</a:t>
            </a:r>
            <a:r>
              <a:rPr sz="1600" dirty="0"/>
              <a:t>: </a:t>
            </a:r>
            <a:r>
              <a:rPr sz="1600" dirty="0" err="1"/>
              <a:t>চেতনা</a:t>
            </a:r>
            <a:r>
              <a:rPr sz="1600" dirty="0"/>
              <a:t>, </a:t>
            </a:r>
            <a:r>
              <a:rPr sz="1600" dirty="0" err="1"/>
              <a:t>ইন্দ্রিয়</a:t>
            </a:r>
            <a:r>
              <a:rPr sz="1600" dirty="0"/>
              <a:t> </a:t>
            </a:r>
            <a:r>
              <a:rPr sz="1600" dirty="0" err="1"/>
              <a:t>সংবেদন</a:t>
            </a:r>
            <a:r>
              <a:rPr sz="1600" dirty="0"/>
              <a:t> (Sensation) </a:t>
            </a:r>
            <a:r>
              <a:rPr sz="1600" dirty="0" err="1"/>
              <a:t>এবং</a:t>
            </a:r>
            <a:r>
              <a:rPr sz="1600" dirty="0"/>
              <a:t> </a:t>
            </a:r>
            <a:r>
              <a:rPr sz="1600" dirty="0" err="1"/>
              <a:t>পেশির</a:t>
            </a:r>
            <a:r>
              <a:rPr sz="1600" dirty="0"/>
              <a:t> </a:t>
            </a:r>
            <a:r>
              <a:rPr sz="1600" dirty="0" err="1"/>
              <a:t>ঐচ্ছিক</a:t>
            </a:r>
            <a:r>
              <a:rPr sz="1600" dirty="0"/>
              <a:t> </a:t>
            </a:r>
            <a:r>
              <a:rPr sz="1600" dirty="0" err="1"/>
              <a:t>সঞ্চালন</a:t>
            </a:r>
            <a:r>
              <a:rPr sz="1600" dirty="0"/>
              <a:t> </a:t>
            </a:r>
            <a:r>
              <a:rPr sz="1600" dirty="0" err="1"/>
              <a:t>পরিচালনা</a:t>
            </a:r>
            <a:r>
              <a:rPr sz="1600" dirty="0"/>
              <a:t> </a:t>
            </a:r>
            <a:r>
              <a:rPr sz="1600" dirty="0" err="1"/>
              <a:t>করা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আরওয়াহ বনাম আধুনিক সিস্টেমিক সার্কুলেশন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2800" dirty="0" err="1"/>
              <a:t>শারীরবৃত্তীয়</a:t>
            </a:r>
            <a:r>
              <a:rPr sz="2800" dirty="0"/>
              <a:t> </a:t>
            </a:r>
            <a:r>
              <a:rPr sz="2800" dirty="0" err="1"/>
              <a:t>সিস্টেমের</a:t>
            </a:r>
            <a:r>
              <a:rPr sz="2800" dirty="0"/>
              <a:t> </a:t>
            </a:r>
            <a:r>
              <a:rPr sz="2800" dirty="0" err="1"/>
              <a:t>সরাসরি</a:t>
            </a:r>
            <a:r>
              <a:rPr sz="2800" dirty="0"/>
              <a:t> </a:t>
            </a:r>
            <a:r>
              <a:rPr sz="2800" dirty="0" err="1"/>
              <a:t>তুলনা</a:t>
            </a:r>
            <a:endParaRPr sz="28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রূহ</a:t>
            </a:r>
            <a:r>
              <a:rPr sz="2800" dirty="0"/>
              <a:t>-ই-</a:t>
            </a:r>
            <a:r>
              <a:rPr sz="2800" dirty="0" err="1"/>
              <a:t>তবাইয়াহ</a:t>
            </a:r>
            <a:r>
              <a:rPr sz="2800" dirty="0"/>
              <a:t> </a:t>
            </a:r>
            <a:r>
              <a:rPr lang="en-US" sz="2800" dirty="0"/>
              <a:t>:</a:t>
            </a:r>
            <a:r>
              <a:rPr sz="2800" dirty="0" err="1"/>
              <a:t>হেপাটিক</a:t>
            </a:r>
            <a:r>
              <a:rPr sz="2800" dirty="0"/>
              <a:t> </a:t>
            </a:r>
            <a:r>
              <a:rPr sz="2800" dirty="0" err="1"/>
              <a:t>পোর্টাল</a:t>
            </a:r>
            <a:r>
              <a:rPr sz="2800" dirty="0"/>
              <a:t> </a:t>
            </a:r>
            <a:r>
              <a:rPr sz="2800" dirty="0" err="1"/>
              <a:t>সার্কুলেশন</a:t>
            </a:r>
            <a:r>
              <a:rPr sz="2800" dirty="0"/>
              <a:t>, </a:t>
            </a:r>
            <a:r>
              <a:rPr sz="2800" dirty="0" err="1"/>
              <a:t>লিভার</a:t>
            </a:r>
            <a:r>
              <a:rPr sz="2800" dirty="0"/>
              <a:t> </a:t>
            </a:r>
            <a:r>
              <a:rPr sz="2800" dirty="0" err="1"/>
              <a:t>মেটাবলিজম</a:t>
            </a:r>
            <a:r>
              <a:rPr sz="2800" dirty="0"/>
              <a:t> ও </a:t>
            </a:r>
            <a:r>
              <a:rPr sz="2800" dirty="0" err="1"/>
              <a:t>প্লাজমা</a:t>
            </a:r>
            <a:r>
              <a:rPr sz="2800" dirty="0"/>
              <a:t> </a:t>
            </a:r>
            <a:r>
              <a:rPr sz="2800" dirty="0" err="1"/>
              <a:t>প্রোটিন</a:t>
            </a:r>
            <a:r>
              <a:rPr sz="2800" dirty="0"/>
              <a:t> </a:t>
            </a:r>
            <a:r>
              <a:rPr sz="2800" dirty="0" err="1"/>
              <a:t>পরিবহন</a:t>
            </a:r>
            <a:r>
              <a:rPr sz="28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রূহ</a:t>
            </a:r>
            <a:r>
              <a:rPr sz="2800" dirty="0"/>
              <a:t>-ই-</a:t>
            </a:r>
            <a:r>
              <a:rPr sz="2800" dirty="0" err="1"/>
              <a:t>হায়ওয়ানিয়াহ</a:t>
            </a:r>
            <a:r>
              <a:rPr sz="2800" dirty="0"/>
              <a:t> </a:t>
            </a:r>
            <a:r>
              <a:rPr lang="en-US" sz="2800" dirty="0"/>
              <a:t>:</a:t>
            </a:r>
            <a:r>
              <a:rPr sz="2800" dirty="0" err="1"/>
              <a:t>পালমোনারি</a:t>
            </a:r>
            <a:r>
              <a:rPr sz="2800" dirty="0"/>
              <a:t> </a:t>
            </a:r>
            <a:r>
              <a:rPr sz="2800" dirty="0" err="1"/>
              <a:t>গ্যাস</a:t>
            </a:r>
            <a:r>
              <a:rPr sz="2800" dirty="0"/>
              <a:t> </a:t>
            </a:r>
            <a:r>
              <a:rPr sz="2800" dirty="0" err="1"/>
              <a:t>এক্সচেঞ্জ</a:t>
            </a:r>
            <a:r>
              <a:rPr sz="2800" dirty="0"/>
              <a:t>, </a:t>
            </a:r>
            <a:r>
              <a:rPr sz="2800" dirty="0" err="1"/>
              <a:t>মায়োকার্ডিয়াল</a:t>
            </a:r>
            <a:r>
              <a:rPr sz="2800" dirty="0"/>
              <a:t> </a:t>
            </a:r>
            <a:r>
              <a:rPr sz="2800" dirty="0" err="1"/>
              <a:t>পারফিউশন</a:t>
            </a:r>
            <a:r>
              <a:rPr sz="2800" dirty="0"/>
              <a:t> ও </a:t>
            </a:r>
            <a:r>
              <a:rPr sz="2800" dirty="0" err="1"/>
              <a:t>সিস্টেমিক</a:t>
            </a:r>
            <a:r>
              <a:rPr sz="2800" dirty="0"/>
              <a:t> </a:t>
            </a:r>
            <a:r>
              <a:rPr sz="2800" dirty="0" err="1"/>
              <a:t>ব্লাড</a:t>
            </a:r>
            <a:r>
              <a:rPr sz="2800" dirty="0"/>
              <a:t> </a:t>
            </a:r>
            <a:r>
              <a:rPr sz="2800" dirty="0" err="1"/>
              <a:t>প্রেসার</a:t>
            </a:r>
            <a:r>
              <a:rPr sz="28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2800" dirty="0"/>
              <a:t>• </a:t>
            </a:r>
            <a:r>
              <a:rPr sz="2800" dirty="0" err="1"/>
              <a:t>রূহ</a:t>
            </a:r>
            <a:r>
              <a:rPr sz="2800" dirty="0"/>
              <a:t>-ই-</a:t>
            </a:r>
            <a:r>
              <a:rPr sz="2800" dirty="0" err="1"/>
              <a:t>নাফসানিয়াহ</a:t>
            </a:r>
            <a:r>
              <a:rPr sz="2800" dirty="0"/>
              <a:t> </a:t>
            </a:r>
            <a:r>
              <a:rPr lang="en-US" sz="2800" dirty="0"/>
              <a:t>:</a:t>
            </a:r>
            <a:r>
              <a:rPr sz="2800" dirty="0" err="1"/>
              <a:t>সেরিব্রাল</a:t>
            </a:r>
            <a:r>
              <a:rPr sz="2800" dirty="0"/>
              <a:t> </a:t>
            </a:r>
            <a:r>
              <a:rPr sz="2800" dirty="0" err="1"/>
              <a:t>পারফিউশন</a:t>
            </a:r>
            <a:r>
              <a:rPr sz="2800" dirty="0"/>
              <a:t>, </a:t>
            </a:r>
            <a:r>
              <a:rPr lang="en-US" sz="2800" dirty="0"/>
              <a:t>Blood-brain</a:t>
            </a:r>
            <a:r>
              <a:rPr sz="2800" dirty="0"/>
              <a:t> </a:t>
            </a:r>
            <a:r>
              <a:rPr sz="2800" dirty="0" err="1"/>
              <a:t>ব্যারিয়ার</a:t>
            </a:r>
            <a:r>
              <a:rPr sz="2800" dirty="0"/>
              <a:t> (BBB) </a:t>
            </a:r>
            <a:r>
              <a:rPr sz="2800" dirty="0" err="1"/>
              <a:t>পারাপার</a:t>
            </a:r>
            <a:r>
              <a:rPr sz="2800" dirty="0"/>
              <a:t> ও </a:t>
            </a:r>
            <a:r>
              <a:rPr sz="2800" dirty="0" err="1"/>
              <a:t>অ্যাকশন</a:t>
            </a:r>
            <a:r>
              <a:rPr sz="2800" dirty="0"/>
              <a:t> </a:t>
            </a:r>
            <a:r>
              <a:rPr sz="2800" dirty="0" err="1"/>
              <a:t>পটেনশিয়াল</a:t>
            </a:r>
            <a:r>
              <a:rPr sz="2800" dirty="0"/>
              <a:t>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কোয়াহ (Quwa / Faculties) — শক্তি ও অনুষদ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কোয়াহর</a:t>
            </a:r>
            <a:r>
              <a:rPr sz="1600" dirty="0"/>
              <a:t> </a:t>
            </a:r>
            <a:r>
              <a:rPr sz="1600" dirty="0" err="1"/>
              <a:t>সংজ্ঞা</a:t>
            </a:r>
            <a:r>
              <a:rPr sz="1600" dirty="0"/>
              <a:t> ও </a:t>
            </a:r>
            <a:r>
              <a:rPr sz="1600" dirty="0" err="1"/>
              <a:t>প্রকৃতি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শরীরের</a:t>
            </a:r>
            <a:r>
              <a:rPr sz="1600" dirty="0"/>
              <a:t> </a:t>
            </a:r>
            <a:r>
              <a:rPr sz="1600" dirty="0" err="1"/>
              <a:t>অঙ্গপ্রত্যঙ্গকে</a:t>
            </a:r>
            <a:r>
              <a:rPr sz="1600" dirty="0"/>
              <a:t> </a:t>
            </a:r>
            <a:r>
              <a:rPr sz="1600" dirty="0" err="1"/>
              <a:t>কার্যকর</a:t>
            </a:r>
            <a:r>
              <a:rPr sz="1600" dirty="0"/>
              <a:t> </a:t>
            </a:r>
            <a:r>
              <a:rPr sz="1600" dirty="0" err="1"/>
              <a:t>রাখার</a:t>
            </a:r>
            <a:r>
              <a:rPr sz="1600" dirty="0"/>
              <a:t> </a:t>
            </a:r>
            <a:r>
              <a:rPr sz="1600" dirty="0" err="1"/>
              <a:t>অন্তর্নিহিত</a:t>
            </a:r>
            <a:r>
              <a:rPr sz="1600" dirty="0"/>
              <a:t> </a:t>
            </a:r>
            <a:r>
              <a:rPr sz="1600" dirty="0" err="1"/>
              <a:t>প্রাকৃতিক</a:t>
            </a:r>
            <a:r>
              <a:rPr sz="1600" dirty="0"/>
              <a:t> </a:t>
            </a:r>
            <a:r>
              <a:rPr sz="1600" dirty="0" err="1"/>
              <a:t>সামর্থ্য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আরওয়াহ</a:t>
            </a:r>
            <a:r>
              <a:rPr sz="1600" dirty="0"/>
              <a:t> </a:t>
            </a:r>
            <a:r>
              <a:rPr sz="1600" dirty="0" err="1"/>
              <a:t>হলো</a:t>
            </a:r>
            <a:r>
              <a:rPr sz="1600" dirty="0"/>
              <a:t> </a:t>
            </a:r>
            <a:r>
              <a:rPr sz="1600" dirty="0" err="1"/>
              <a:t>এনার্জি</a:t>
            </a:r>
            <a:r>
              <a:rPr sz="1600" dirty="0"/>
              <a:t> </a:t>
            </a:r>
            <a:r>
              <a:rPr sz="1600" dirty="0" err="1"/>
              <a:t>বা</a:t>
            </a:r>
            <a:r>
              <a:rPr sz="1600" dirty="0"/>
              <a:t> </a:t>
            </a:r>
            <a:r>
              <a:rPr sz="1600" dirty="0" err="1"/>
              <a:t>জ্বালানি</a:t>
            </a:r>
            <a:r>
              <a:rPr sz="1600" dirty="0"/>
              <a:t> (Energy Carrier)।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কোয়াহ</a:t>
            </a:r>
            <a:r>
              <a:rPr sz="1600" dirty="0"/>
              <a:t> </a:t>
            </a:r>
            <a:r>
              <a:rPr sz="1600" dirty="0" err="1"/>
              <a:t>হলো</a:t>
            </a:r>
            <a:r>
              <a:rPr sz="1600" dirty="0"/>
              <a:t> </a:t>
            </a:r>
            <a:r>
              <a:rPr sz="1600" dirty="0" err="1"/>
              <a:t>সেই</a:t>
            </a:r>
            <a:r>
              <a:rPr sz="1600" dirty="0"/>
              <a:t> </a:t>
            </a:r>
            <a:r>
              <a:rPr sz="1600" dirty="0" err="1"/>
              <a:t>এনার্জি</a:t>
            </a:r>
            <a:r>
              <a:rPr sz="1600" dirty="0"/>
              <a:t> </a:t>
            </a:r>
            <a:r>
              <a:rPr sz="1600" dirty="0" err="1"/>
              <a:t>ব্যবহারকারী</a:t>
            </a:r>
            <a:r>
              <a:rPr sz="1600" dirty="0"/>
              <a:t> </a:t>
            </a:r>
            <a:r>
              <a:rPr sz="1600" dirty="0" err="1"/>
              <a:t>সেলুলার</a:t>
            </a:r>
            <a:r>
              <a:rPr sz="1600" dirty="0"/>
              <a:t> </a:t>
            </a:r>
            <a:r>
              <a:rPr sz="1600" dirty="0" err="1"/>
              <a:t>মেকানিজম</a:t>
            </a:r>
            <a:r>
              <a:rPr sz="1600" dirty="0"/>
              <a:t> (Functional Engine)।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প্রধান</a:t>
            </a:r>
            <a:r>
              <a:rPr sz="1600" dirty="0"/>
              <a:t> </a:t>
            </a:r>
            <a:r>
              <a:rPr sz="1600" dirty="0" err="1"/>
              <a:t>তিনটি</a:t>
            </a:r>
            <a:r>
              <a:rPr sz="1600" dirty="0"/>
              <a:t> </a:t>
            </a:r>
            <a:r>
              <a:rPr sz="1600" dirty="0" err="1"/>
              <a:t>বিভাগ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কুওয়াত</a:t>
            </a:r>
            <a:r>
              <a:rPr sz="1600" dirty="0"/>
              <a:t>-ই-</a:t>
            </a:r>
            <a:r>
              <a:rPr sz="1600" dirty="0" err="1"/>
              <a:t>তবাইয়াহ</a:t>
            </a:r>
            <a:r>
              <a:rPr sz="1600" dirty="0"/>
              <a:t> (Natural Faculty): </a:t>
            </a:r>
            <a:r>
              <a:rPr sz="1600" dirty="0" err="1"/>
              <a:t>পুষ্টি</a:t>
            </a:r>
            <a:r>
              <a:rPr sz="1600" dirty="0"/>
              <a:t>, </a:t>
            </a:r>
            <a:r>
              <a:rPr sz="1600" dirty="0" err="1"/>
              <a:t>বৃদ্ধি</a:t>
            </a:r>
            <a:r>
              <a:rPr sz="1600" dirty="0"/>
              <a:t> ও </a:t>
            </a:r>
            <a:r>
              <a:rPr sz="1600" dirty="0" err="1"/>
              <a:t>বংশরক্ষা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কুওয়াত</a:t>
            </a:r>
            <a:r>
              <a:rPr sz="1600" dirty="0"/>
              <a:t>-ই-</a:t>
            </a:r>
            <a:r>
              <a:rPr sz="1600" dirty="0" err="1"/>
              <a:t>হায়ওয়ানিয়াহ</a:t>
            </a:r>
            <a:r>
              <a:rPr sz="1600" dirty="0"/>
              <a:t> (Vital Faculty): </a:t>
            </a:r>
            <a:r>
              <a:rPr sz="1600" dirty="0" err="1"/>
              <a:t>কার্ডিও-পালমোনারি</a:t>
            </a:r>
            <a:r>
              <a:rPr sz="1600" dirty="0"/>
              <a:t> </a:t>
            </a:r>
            <a:r>
              <a:rPr sz="1600" dirty="0" err="1"/>
              <a:t>প্রাণশক্তি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কুওয়াত</a:t>
            </a:r>
            <a:r>
              <a:rPr sz="1600" dirty="0"/>
              <a:t>-ই-</a:t>
            </a:r>
            <a:r>
              <a:rPr sz="1600" dirty="0" err="1"/>
              <a:t>নাফসানিয়াহ</a:t>
            </a:r>
            <a:r>
              <a:rPr sz="1600" dirty="0"/>
              <a:t> (Psychic Faculty): </a:t>
            </a:r>
            <a:r>
              <a:rPr sz="1600" dirty="0" err="1"/>
              <a:t>স্নায়বিক</a:t>
            </a:r>
            <a:r>
              <a:rPr sz="1600" dirty="0"/>
              <a:t> </a:t>
            </a:r>
            <a:r>
              <a:rPr sz="1600" dirty="0" err="1"/>
              <a:t>অনুভূতি</a:t>
            </a:r>
            <a:r>
              <a:rPr sz="1600" dirty="0"/>
              <a:t> ও </a:t>
            </a:r>
            <a:r>
              <a:rPr sz="1600" dirty="0" err="1"/>
              <a:t>মোটর</a:t>
            </a:r>
            <a:r>
              <a:rPr sz="1600" dirty="0"/>
              <a:t> </a:t>
            </a:r>
            <a:r>
              <a:rPr sz="1600" dirty="0" err="1"/>
              <a:t>শক্তি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কুওয়াত-ই-তবাইয়াহ (Natural Faculty) — পুষ্টি ও বৃদ্ধি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কুওয়াত</a:t>
            </a:r>
            <a:r>
              <a:rPr sz="1600" dirty="0"/>
              <a:t>-ই-</a:t>
            </a:r>
            <a:r>
              <a:rPr sz="1600" dirty="0" err="1"/>
              <a:t>গাযিয়াহ</a:t>
            </a:r>
            <a:r>
              <a:rPr sz="1600" dirty="0"/>
              <a:t> (Nutritive Power)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জাযিবাহ</a:t>
            </a:r>
            <a:r>
              <a:rPr sz="1600" dirty="0"/>
              <a:t> (Attractive): </a:t>
            </a:r>
            <a:r>
              <a:rPr sz="1600" dirty="0" err="1"/>
              <a:t>পুষ্টি</a:t>
            </a:r>
            <a:r>
              <a:rPr sz="1600" dirty="0"/>
              <a:t> </a:t>
            </a:r>
            <a:r>
              <a:rPr sz="1600" dirty="0" err="1"/>
              <a:t>শোষণ</a:t>
            </a:r>
            <a:r>
              <a:rPr sz="1600" dirty="0"/>
              <a:t> </a:t>
            </a:r>
            <a:r>
              <a:rPr sz="1600" dirty="0" err="1"/>
              <a:t>বা</a:t>
            </a:r>
            <a:r>
              <a:rPr sz="1600" dirty="0"/>
              <a:t> </a:t>
            </a:r>
            <a:r>
              <a:rPr sz="1600" dirty="0" err="1"/>
              <a:t>গ্রহণ</a:t>
            </a:r>
            <a:r>
              <a:rPr sz="1600" dirty="0"/>
              <a:t> (Cellular Uptake)।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মাসিকাহ</a:t>
            </a:r>
            <a:r>
              <a:rPr sz="1600" dirty="0"/>
              <a:t> (Retentive): </a:t>
            </a:r>
            <a:r>
              <a:rPr sz="1600" dirty="0" err="1"/>
              <a:t>পরিপাক</a:t>
            </a:r>
            <a:r>
              <a:rPr sz="1600" dirty="0"/>
              <a:t> </a:t>
            </a:r>
            <a:r>
              <a:rPr sz="1600" dirty="0" err="1"/>
              <a:t>না</a:t>
            </a:r>
            <a:r>
              <a:rPr sz="1600" dirty="0"/>
              <a:t> </a:t>
            </a:r>
            <a:r>
              <a:rPr sz="1600" dirty="0" err="1"/>
              <a:t>হওয়া</a:t>
            </a:r>
            <a:r>
              <a:rPr sz="1600" dirty="0"/>
              <a:t> </a:t>
            </a:r>
            <a:r>
              <a:rPr sz="1600" dirty="0" err="1"/>
              <a:t>পর্যন্ত</a:t>
            </a:r>
            <a:r>
              <a:rPr sz="1600" dirty="0"/>
              <a:t> </a:t>
            </a:r>
            <a:r>
              <a:rPr sz="1600" dirty="0" err="1"/>
              <a:t>উপাদান</a:t>
            </a:r>
            <a:r>
              <a:rPr sz="1600" dirty="0"/>
              <a:t> </a:t>
            </a:r>
            <a:r>
              <a:rPr sz="1600" dirty="0" err="1"/>
              <a:t>ধরে</a:t>
            </a:r>
            <a:r>
              <a:rPr sz="1600" dirty="0"/>
              <a:t> </a:t>
            </a:r>
            <a:r>
              <a:rPr sz="1600" dirty="0" err="1"/>
              <a:t>রাখা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হাযিমাহ</a:t>
            </a:r>
            <a:r>
              <a:rPr sz="1600" dirty="0"/>
              <a:t> (Digestive): </a:t>
            </a:r>
            <a:r>
              <a:rPr sz="1600" dirty="0" err="1"/>
              <a:t>রাসায়নিক</a:t>
            </a:r>
            <a:r>
              <a:rPr sz="1600" dirty="0"/>
              <a:t> </a:t>
            </a:r>
            <a:r>
              <a:rPr sz="1600" dirty="0" err="1"/>
              <a:t>ভাঙন</a:t>
            </a:r>
            <a:r>
              <a:rPr sz="1600" dirty="0"/>
              <a:t> ও </a:t>
            </a:r>
            <a:r>
              <a:rPr sz="1600" dirty="0" err="1"/>
              <a:t>আত্মীকরণ</a:t>
            </a:r>
            <a:r>
              <a:rPr sz="1600" dirty="0"/>
              <a:t> (Metabolism)।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দাফিআহ</a:t>
            </a:r>
            <a:r>
              <a:rPr sz="1600" dirty="0"/>
              <a:t> (Expulsive): </a:t>
            </a:r>
            <a:r>
              <a:rPr sz="1600" dirty="0" err="1"/>
              <a:t>মেটাবলিক</a:t>
            </a:r>
            <a:r>
              <a:rPr sz="1600" dirty="0"/>
              <a:t> </a:t>
            </a:r>
            <a:r>
              <a:rPr sz="1600" dirty="0" err="1"/>
              <a:t>বর্জ্য</a:t>
            </a:r>
            <a:r>
              <a:rPr sz="1600" dirty="0"/>
              <a:t> </a:t>
            </a:r>
            <a:r>
              <a:rPr sz="1600" dirty="0" err="1"/>
              <a:t>নিষ্কাশন</a:t>
            </a:r>
            <a:r>
              <a:rPr sz="1600" dirty="0"/>
              <a:t> (Excretion)।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বৃদ্ধি</a:t>
            </a:r>
            <a:r>
              <a:rPr sz="1600" dirty="0"/>
              <a:t> ও </a:t>
            </a:r>
            <a:r>
              <a:rPr sz="1600" dirty="0" err="1"/>
              <a:t>প্রজনন</a:t>
            </a:r>
            <a:r>
              <a:rPr sz="1600" dirty="0"/>
              <a:t> </a:t>
            </a:r>
            <a:r>
              <a:rPr sz="1600" dirty="0" err="1"/>
              <a:t>শক্তি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কুওয়াত</a:t>
            </a:r>
            <a:r>
              <a:rPr sz="1600" dirty="0"/>
              <a:t>-ই-</a:t>
            </a:r>
            <a:r>
              <a:rPr sz="1600" dirty="0" err="1"/>
              <a:t>নামিয়াহ</a:t>
            </a:r>
            <a:r>
              <a:rPr sz="1600" dirty="0"/>
              <a:t> (Growth Power): </a:t>
            </a:r>
            <a:r>
              <a:rPr sz="1600" dirty="0" err="1"/>
              <a:t>কোষ</a:t>
            </a:r>
            <a:r>
              <a:rPr sz="1600" dirty="0"/>
              <a:t> </a:t>
            </a:r>
            <a:r>
              <a:rPr sz="1600" dirty="0" err="1"/>
              <a:t>বিভাজন</a:t>
            </a:r>
            <a:r>
              <a:rPr sz="1600" dirty="0"/>
              <a:t> ও </a:t>
            </a:r>
            <a:r>
              <a:rPr sz="1600" dirty="0" err="1"/>
              <a:t>দেহের</a:t>
            </a:r>
            <a:r>
              <a:rPr sz="1600" dirty="0"/>
              <a:t> </a:t>
            </a:r>
            <a:r>
              <a:rPr sz="1600" dirty="0" err="1"/>
              <a:t>বৃদ্ধি</a:t>
            </a:r>
            <a:r>
              <a:rPr sz="1600" dirty="0"/>
              <a:t> (Cell Proliferation &amp; GH)।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কুওয়াত</a:t>
            </a:r>
            <a:r>
              <a:rPr sz="1600" dirty="0"/>
              <a:t>-ই-</a:t>
            </a:r>
            <a:r>
              <a:rPr sz="1600" dirty="0" err="1"/>
              <a:t>মুওয়াল্লিদাহ</a:t>
            </a:r>
            <a:r>
              <a:rPr sz="1600" dirty="0"/>
              <a:t> (Generative Power): </a:t>
            </a:r>
            <a:r>
              <a:rPr sz="1600" dirty="0" err="1"/>
              <a:t>স্পার্মাটোজেনেসিস</a:t>
            </a:r>
            <a:r>
              <a:rPr sz="1600" dirty="0"/>
              <a:t>, </a:t>
            </a:r>
            <a:r>
              <a:rPr sz="1600" dirty="0" err="1"/>
              <a:t>ওভুলেশন</a:t>
            </a:r>
            <a:r>
              <a:rPr sz="1600" dirty="0"/>
              <a:t> ও </a:t>
            </a:r>
            <a:r>
              <a:rPr sz="1600" dirty="0" err="1"/>
              <a:t>প্রজনন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কুওয়াত-ই-হায়ওয়ানিয়াহ (Vital Faculty) — জীবনী অনুষদ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2000" dirty="0" err="1"/>
              <a:t>ইউনানী</a:t>
            </a:r>
            <a:r>
              <a:rPr sz="2000" dirty="0"/>
              <a:t> </a:t>
            </a:r>
            <a:r>
              <a:rPr sz="2000" dirty="0" err="1"/>
              <a:t>দৃষ্টিভঙ্গি</a:t>
            </a:r>
            <a:endParaRPr sz="20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হৃৎপিণ্ড</a:t>
            </a:r>
            <a:r>
              <a:rPr sz="2000" dirty="0"/>
              <a:t> ও </a:t>
            </a:r>
            <a:r>
              <a:rPr sz="2000" dirty="0" err="1"/>
              <a:t>রক্তনালিকে</a:t>
            </a:r>
            <a:r>
              <a:rPr sz="2000" dirty="0"/>
              <a:t> </a:t>
            </a:r>
            <a:r>
              <a:rPr sz="2000" dirty="0" err="1"/>
              <a:t>সচল</a:t>
            </a:r>
            <a:r>
              <a:rPr sz="2000" dirty="0"/>
              <a:t> </a:t>
            </a:r>
            <a:r>
              <a:rPr sz="2000" dirty="0" err="1"/>
              <a:t>রাখার</a:t>
            </a:r>
            <a:r>
              <a:rPr sz="2000" dirty="0"/>
              <a:t> </a:t>
            </a:r>
            <a:r>
              <a:rPr sz="2000" dirty="0" err="1"/>
              <a:t>মূল</a:t>
            </a:r>
            <a:r>
              <a:rPr sz="2000" dirty="0"/>
              <a:t> </a:t>
            </a:r>
            <a:r>
              <a:rPr sz="2000" dirty="0" err="1"/>
              <a:t>চালিকাশক্তি</a:t>
            </a:r>
            <a:r>
              <a:rPr sz="20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হৃৎপিণ্ডের</a:t>
            </a:r>
            <a:r>
              <a:rPr sz="2000" dirty="0"/>
              <a:t> </a:t>
            </a:r>
            <a:r>
              <a:rPr sz="2000" dirty="0" err="1"/>
              <a:t>নিয়মিত</a:t>
            </a:r>
            <a:r>
              <a:rPr sz="2000" dirty="0"/>
              <a:t> </a:t>
            </a:r>
            <a:r>
              <a:rPr sz="2000" dirty="0" err="1"/>
              <a:t>সংকোচন</a:t>
            </a:r>
            <a:r>
              <a:rPr sz="2000" dirty="0"/>
              <a:t> (Systole) ও </a:t>
            </a:r>
            <a:r>
              <a:rPr sz="2000" dirty="0" err="1"/>
              <a:t>প্রসারণ</a:t>
            </a:r>
            <a:r>
              <a:rPr sz="2000" dirty="0"/>
              <a:t> (Diastole) </a:t>
            </a:r>
            <a:r>
              <a:rPr sz="2000" dirty="0" err="1"/>
              <a:t>নিয়ন্ত্রণ</a:t>
            </a:r>
            <a:r>
              <a:rPr sz="20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ধমনিজুড়ে</a:t>
            </a:r>
            <a:r>
              <a:rPr sz="2000" dirty="0"/>
              <a:t> </a:t>
            </a:r>
            <a:r>
              <a:rPr sz="2000" dirty="0" err="1"/>
              <a:t>পালস</a:t>
            </a:r>
            <a:r>
              <a:rPr sz="2000" dirty="0"/>
              <a:t> ও </a:t>
            </a:r>
            <a:r>
              <a:rPr sz="2000" dirty="0" err="1"/>
              <a:t>জীবনীপ্রবাহ</a:t>
            </a:r>
            <a:r>
              <a:rPr sz="2000" dirty="0"/>
              <a:t> </a:t>
            </a:r>
            <a:r>
              <a:rPr sz="2000" dirty="0" err="1"/>
              <a:t>নিশ্চিত</a:t>
            </a:r>
            <a:r>
              <a:rPr sz="2000" dirty="0"/>
              <a:t> </a:t>
            </a:r>
            <a:r>
              <a:rPr sz="2000" dirty="0" err="1"/>
              <a:t>করা</a:t>
            </a:r>
            <a:r>
              <a:rPr sz="2000" dirty="0"/>
              <a:t>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আধুনিক</a:t>
            </a:r>
            <a:r>
              <a:rPr sz="1600" dirty="0"/>
              <a:t> </a:t>
            </a:r>
            <a:r>
              <a:rPr sz="1600" dirty="0" err="1"/>
              <a:t>ফিজিওলজি</a:t>
            </a:r>
            <a:r>
              <a:rPr sz="1600" dirty="0"/>
              <a:t> </a:t>
            </a:r>
            <a:r>
              <a:rPr sz="1600" dirty="0" err="1"/>
              <a:t>কোরিলেশন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সাইনোঅ্যাট্রিয়াল</a:t>
            </a:r>
            <a:r>
              <a:rPr sz="1600" dirty="0"/>
              <a:t> </a:t>
            </a:r>
            <a:r>
              <a:rPr sz="1600" dirty="0" err="1"/>
              <a:t>নোড</a:t>
            </a:r>
            <a:r>
              <a:rPr sz="1600" dirty="0"/>
              <a:t> (SA Node)-</a:t>
            </a:r>
            <a:r>
              <a:rPr sz="1600" dirty="0" err="1"/>
              <a:t>এর</a:t>
            </a:r>
            <a:r>
              <a:rPr sz="1600" dirty="0"/>
              <a:t> </a:t>
            </a:r>
            <a:r>
              <a:rPr sz="1600" dirty="0" err="1"/>
              <a:t>পেসমেকার</a:t>
            </a:r>
            <a:r>
              <a:rPr sz="1600" dirty="0"/>
              <a:t> </a:t>
            </a:r>
            <a:r>
              <a:rPr sz="1600" dirty="0" err="1"/>
              <a:t>অটোমেটিসিটি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মায়োকার্ডিয়াল</a:t>
            </a:r>
            <a:r>
              <a:rPr sz="1600" dirty="0"/>
              <a:t> </a:t>
            </a:r>
            <a:r>
              <a:rPr sz="1600" dirty="0" err="1"/>
              <a:t>কন্ট্রাকটিলিটি</a:t>
            </a:r>
            <a:r>
              <a:rPr sz="1600" dirty="0"/>
              <a:t> ও </a:t>
            </a:r>
            <a:r>
              <a:rPr sz="1600" dirty="0" err="1"/>
              <a:t>কার্ডিয়াক</a:t>
            </a:r>
            <a:r>
              <a:rPr sz="1600" dirty="0"/>
              <a:t> </a:t>
            </a:r>
            <a:r>
              <a:rPr sz="1600" dirty="0" err="1"/>
              <a:t>আউটপুট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অটোনমিক</a:t>
            </a:r>
            <a:r>
              <a:rPr sz="1600" dirty="0"/>
              <a:t> </a:t>
            </a:r>
            <a:r>
              <a:rPr sz="1600" dirty="0" err="1"/>
              <a:t>নার্ভাস</a:t>
            </a:r>
            <a:r>
              <a:rPr sz="1600" dirty="0"/>
              <a:t> </a:t>
            </a:r>
            <a:r>
              <a:rPr sz="1600" dirty="0" err="1"/>
              <a:t>সিস্টেম</a:t>
            </a:r>
            <a:r>
              <a:rPr sz="1600" dirty="0"/>
              <a:t> (Sympathetic ও Parasympathetic </a:t>
            </a:r>
            <a:r>
              <a:rPr sz="1600" dirty="0" err="1"/>
              <a:t>টোন</a:t>
            </a:r>
            <a:r>
              <a:rPr sz="1600" dirty="0"/>
              <a:t>)।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কুওয়াত-ই-নাফসানিয়াহ (Psychic Faculty) — স্নায়বিক ও মানসিক ক্ষমতা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কুওয়াত</a:t>
            </a:r>
            <a:r>
              <a:rPr sz="1600" dirty="0"/>
              <a:t>-ই-</a:t>
            </a:r>
            <a:r>
              <a:rPr sz="1600" dirty="0" err="1"/>
              <a:t>মুদরিকাহ</a:t>
            </a:r>
            <a:r>
              <a:rPr sz="1600" dirty="0"/>
              <a:t> (Perceptive)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বাহ্যিক</a:t>
            </a:r>
            <a:r>
              <a:rPr sz="1600" dirty="0"/>
              <a:t> </a:t>
            </a:r>
            <a:r>
              <a:rPr sz="1600" dirty="0" err="1"/>
              <a:t>ইন্দ্রিয়</a:t>
            </a:r>
            <a:r>
              <a:rPr sz="1600" dirty="0"/>
              <a:t>: </a:t>
            </a:r>
            <a:r>
              <a:rPr sz="1600" dirty="0" err="1"/>
              <a:t>পঞ্চেন্দ্রিয়</a:t>
            </a:r>
            <a:r>
              <a:rPr sz="1600" dirty="0"/>
              <a:t> (</a:t>
            </a:r>
            <a:r>
              <a:rPr sz="1600" dirty="0" err="1"/>
              <a:t>দর্শন</a:t>
            </a:r>
            <a:r>
              <a:rPr sz="1600" dirty="0"/>
              <a:t>, </a:t>
            </a:r>
            <a:r>
              <a:rPr sz="1600" dirty="0" err="1"/>
              <a:t>শ্রবণ</a:t>
            </a:r>
            <a:r>
              <a:rPr sz="1600" dirty="0"/>
              <a:t>, </a:t>
            </a:r>
            <a:r>
              <a:rPr sz="1600" dirty="0" err="1"/>
              <a:t>ঘ্রাণ</a:t>
            </a:r>
            <a:r>
              <a:rPr sz="1600" dirty="0"/>
              <a:t>, </a:t>
            </a:r>
            <a:r>
              <a:rPr sz="1600" dirty="0" err="1"/>
              <a:t>স্বাদ</a:t>
            </a:r>
            <a:r>
              <a:rPr sz="1600" dirty="0"/>
              <a:t>, </a:t>
            </a:r>
            <a:r>
              <a:rPr sz="1600" dirty="0" err="1"/>
              <a:t>স্পর্শ</a:t>
            </a:r>
            <a:r>
              <a:rPr sz="1600" dirty="0"/>
              <a:t>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অভ্যন্তরীণ</a:t>
            </a:r>
            <a:r>
              <a:rPr sz="1600" dirty="0"/>
              <a:t> </a:t>
            </a:r>
            <a:r>
              <a:rPr sz="1600" dirty="0" err="1"/>
              <a:t>ইন্দ্রিয়</a:t>
            </a:r>
            <a:r>
              <a:rPr sz="1600" dirty="0"/>
              <a:t>: </a:t>
            </a:r>
            <a:r>
              <a:rPr sz="1600" dirty="0" err="1"/>
              <a:t>সাধারণ</a:t>
            </a:r>
            <a:r>
              <a:rPr sz="1600" dirty="0"/>
              <a:t> </a:t>
            </a:r>
            <a:r>
              <a:rPr sz="1600" dirty="0" err="1"/>
              <a:t>অনুভূতি</a:t>
            </a:r>
            <a:r>
              <a:rPr sz="1600" dirty="0"/>
              <a:t> (Hiss-e-</a:t>
            </a:r>
            <a:r>
              <a:rPr sz="1600" dirty="0" err="1"/>
              <a:t>Mushtarak</a:t>
            </a:r>
            <a:r>
              <a:rPr sz="1600" dirty="0"/>
              <a:t>), </a:t>
            </a:r>
            <a:r>
              <a:rPr sz="1600" dirty="0" err="1"/>
              <a:t>কল্পনা</a:t>
            </a:r>
            <a:r>
              <a:rPr sz="1600" dirty="0"/>
              <a:t> (Khayal), </a:t>
            </a:r>
            <a:r>
              <a:rPr sz="1600" dirty="0" err="1"/>
              <a:t>চিন্তা</a:t>
            </a:r>
            <a:r>
              <a:rPr sz="1600" dirty="0"/>
              <a:t> (Fikr) ও </a:t>
            </a:r>
            <a:r>
              <a:rPr sz="1600" dirty="0" err="1"/>
              <a:t>স্মৃতি</a:t>
            </a:r>
            <a:r>
              <a:rPr sz="1600" dirty="0"/>
              <a:t> (Hafiza)।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কুওয়াত</a:t>
            </a:r>
            <a:r>
              <a:rPr sz="1600" dirty="0"/>
              <a:t>-ই-</a:t>
            </a:r>
            <a:r>
              <a:rPr sz="1600" dirty="0" err="1"/>
              <a:t>মুহাররিকাহ</a:t>
            </a:r>
            <a:r>
              <a:rPr sz="1600" dirty="0"/>
              <a:t> (Motive)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স্নায়বিক</a:t>
            </a:r>
            <a:r>
              <a:rPr sz="1600" dirty="0"/>
              <a:t> </a:t>
            </a:r>
            <a:r>
              <a:rPr sz="1600" dirty="0" err="1"/>
              <a:t>সংকেতের</a:t>
            </a:r>
            <a:r>
              <a:rPr sz="1600" dirty="0"/>
              <a:t> </a:t>
            </a:r>
            <a:r>
              <a:rPr sz="1600" dirty="0" err="1"/>
              <a:t>মাধ্যমে</a:t>
            </a:r>
            <a:r>
              <a:rPr sz="1600" dirty="0"/>
              <a:t> </a:t>
            </a:r>
            <a:r>
              <a:rPr sz="1600" dirty="0" err="1"/>
              <a:t>মাংসপেশির</a:t>
            </a:r>
            <a:r>
              <a:rPr sz="1600" dirty="0"/>
              <a:t> </a:t>
            </a:r>
            <a:r>
              <a:rPr sz="1600" dirty="0" err="1"/>
              <a:t>সংকোচন</a:t>
            </a:r>
            <a:r>
              <a:rPr sz="1600" dirty="0"/>
              <a:t> ও </a:t>
            </a:r>
            <a:r>
              <a:rPr sz="1600" dirty="0" err="1"/>
              <a:t>অঙ্গ</a:t>
            </a:r>
            <a:r>
              <a:rPr sz="1600" dirty="0"/>
              <a:t> </a:t>
            </a:r>
            <a:r>
              <a:rPr sz="1600" dirty="0" err="1"/>
              <a:t>সঞ্চালন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মোটর</a:t>
            </a:r>
            <a:r>
              <a:rPr sz="1600" dirty="0"/>
              <a:t> </a:t>
            </a:r>
            <a:r>
              <a:rPr sz="1600" dirty="0" err="1"/>
              <a:t>নার্ভ</a:t>
            </a:r>
            <a:r>
              <a:rPr sz="1600" dirty="0"/>
              <a:t> </a:t>
            </a:r>
            <a:r>
              <a:rPr sz="1600" dirty="0" err="1"/>
              <a:t>পাথওয়ে</a:t>
            </a:r>
            <a:r>
              <a:rPr sz="1600" dirty="0"/>
              <a:t> ও </a:t>
            </a:r>
            <a:r>
              <a:rPr sz="1600" dirty="0" err="1"/>
              <a:t>নিউরো-মাসকুলার</a:t>
            </a:r>
            <a:r>
              <a:rPr sz="1600" dirty="0"/>
              <a:t> </a:t>
            </a:r>
            <a:r>
              <a:rPr sz="1600" dirty="0" err="1"/>
              <a:t>জাংশনের</a:t>
            </a:r>
            <a:r>
              <a:rPr sz="1600" dirty="0"/>
              <a:t> </a:t>
            </a:r>
            <a:r>
              <a:rPr sz="1600" dirty="0" err="1"/>
              <a:t>কার্যকারিতা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আফ’আল (Af’al / Functions) — চূড়ান্ত শারীরিক প্রকাশ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আফ’আল</a:t>
            </a:r>
            <a:r>
              <a:rPr sz="1600" dirty="0"/>
              <a:t>-ই-</a:t>
            </a:r>
            <a:r>
              <a:rPr sz="1600" dirty="0" err="1"/>
              <a:t>মুফরাদা</a:t>
            </a:r>
            <a:r>
              <a:rPr sz="1600" dirty="0"/>
              <a:t> (Simple Actions)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একক</a:t>
            </a:r>
            <a:r>
              <a:rPr sz="1600" dirty="0"/>
              <a:t> </a:t>
            </a:r>
            <a:r>
              <a:rPr sz="1600" dirty="0" err="1"/>
              <a:t>শক্তি</a:t>
            </a:r>
            <a:r>
              <a:rPr sz="1600" dirty="0"/>
              <a:t> </a:t>
            </a:r>
            <a:r>
              <a:rPr sz="1600" dirty="0" err="1"/>
              <a:t>বা</a:t>
            </a:r>
            <a:r>
              <a:rPr sz="1600" dirty="0"/>
              <a:t> </a:t>
            </a:r>
            <a:r>
              <a:rPr sz="1600" dirty="0" err="1"/>
              <a:t>উপাদানের</a:t>
            </a:r>
            <a:r>
              <a:rPr sz="1600" dirty="0"/>
              <a:t> </a:t>
            </a:r>
            <a:r>
              <a:rPr sz="1600" dirty="0" err="1"/>
              <a:t>মাধ্যমে</a:t>
            </a:r>
            <a:r>
              <a:rPr sz="1600" dirty="0"/>
              <a:t> </a:t>
            </a:r>
            <a:r>
              <a:rPr sz="1600" dirty="0" err="1"/>
              <a:t>সম্পন্ন</a:t>
            </a:r>
            <a:r>
              <a:rPr sz="1600" dirty="0"/>
              <a:t> </a:t>
            </a:r>
            <a:r>
              <a:rPr sz="1600" dirty="0" err="1"/>
              <a:t>কাজ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উদাহরণ</a:t>
            </a:r>
            <a:r>
              <a:rPr sz="1600" dirty="0"/>
              <a:t>: </a:t>
            </a:r>
            <a:r>
              <a:rPr sz="1600" dirty="0" err="1"/>
              <a:t>কেবল</a:t>
            </a:r>
            <a:r>
              <a:rPr sz="1600" dirty="0"/>
              <a:t> </a:t>
            </a:r>
            <a:r>
              <a:rPr sz="1600" dirty="0" err="1"/>
              <a:t>খাদ্য</a:t>
            </a:r>
            <a:r>
              <a:rPr sz="1600" dirty="0"/>
              <a:t> </a:t>
            </a:r>
            <a:r>
              <a:rPr sz="1600" dirty="0" err="1"/>
              <a:t>শোষণ</a:t>
            </a:r>
            <a:r>
              <a:rPr sz="1600" dirty="0"/>
              <a:t>, </a:t>
            </a:r>
            <a:r>
              <a:rPr sz="1600" dirty="0" err="1"/>
              <a:t>পিত্ত</a:t>
            </a:r>
            <a:r>
              <a:rPr sz="1600" dirty="0"/>
              <a:t> </a:t>
            </a:r>
            <a:r>
              <a:rPr sz="1600" dirty="0" err="1"/>
              <a:t>নিঃসরণ</a:t>
            </a:r>
            <a:r>
              <a:rPr sz="1600" dirty="0"/>
              <a:t> </a:t>
            </a:r>
            <a:r>
              <a:rPr sz="1600" dirty="0" err="1"/>
              <a:t>বা</a:t>
            </a:r>
            <a:r>
              <a:rPr sz="1600" dirty="0"/>
              <a:t> </a:t>
            </a:r>
            <a:r>
              <a:rPr sz="1600" dirty="0" err="1"/>
              <a:t>রক্তনালির</a:t>
            </a:r>
            <a:r>
              <a:rPr sz="1600" dirty="0"/>
              <a:t> </a:t>
            </a:r>
            <a:r>
              <a:rPr sz="1600" dirty="0" err="1"/>
              <a:t>সংকোচন</a:t>
            </a:r>
            <a:r>
              <a:rPr sz="1600" dirty="0"/>
              <a:t>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আফ’আল</a:t>
            </a:r>
            <a:r>
              <a:rPr sz="1600" dirty="0"/>
              <a:t>-ই-</a:t>
            </a:r>
            <a:r>
              <a:rPr sz="1600" dirty="0" err="1"/>
              <a:t>মুরাক্কাবা</a:t>
            </a:r>
            <a:r>
              <a:rPr sz="1600" dirty="0"/>
              <a:t> (Compound Actions)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একাধিক</a:t>
            </a:r>
            <a:r>
              <a:rPr sz="1600" dirty="0"/>
              <a:t> </a:t>
            </a:r>
            <a:r>
              <a:rPr sz="1600" dirty="0" err="1"/>
              <a:t>শক্তি</a:t>
            </a:r>
            <a:r>
              <a:rPr sz="1600" dirty="0"/>
              <a:t> ও </a:t>
            </a:r>
            <a:r>
              <a:rPr sz="1600" dirty="0" err="1"/>
              <a:t>অঙ্গের</a:t>
            </a:r>
            <a:r>
              <a:rPr sz="1600" dirty="0"/>
              <a:t> </a:t>
            </a:r>
            <a:r>
              <a:rPr sz="1600" dirty="0" err="1"/>
              <a:t>সমন্বিত</a:t>
            </a:r>
            <a:r>
              <a:rPr sz="1600" dirty="0"/>
              <a:t> </a:t>
            </a:r>
            <a:r>
              <a:rPr sz="1600" dirty="0" err="1"/>
              <a:t>জটিল</a:t>
            </a:r>
            <a:r>
              <a:rPr sz="1600" dirty="0"/>
              <a:t> </a:t>
            </a:r>
            <a:r>
              <a:rPr sz="1600" dirty="0" err="1"/>
              <a:t>কাজ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উদাহরণ</a:t>
            </a:r>
            <a:r>
              <a:rPr sz="1600" dirty="0"/>
              <a:t>: </a:t>
            </a:r>
            <a:r>
              <a:rPr sz="1600" dirty="0" err="1"/>
              <a:t>ক্ষুধা</a:t>
            </a:r>
            <a:r>
              <a:rPr sz="1600" dirty="0"/>
              <a:t> </a:t>
            </a:r>
            <a:r>
              <a:rPr sz="1600" dirty="0" err="1"/>
              <a:t>অনুভব</a:t>
            </a:r>
            <a:r>
              <a:rPr sz="1600" dirty="0"/>
              <a:t> </a:t>
            </a:r>
            <a:r>
              <a:rPr sz="1600" dirty="0" err="1"/>
              <a:t>হওয়া</a:t>
            </a:r>
            <a:r>
              <a:rPr sz="1600" dirty="0"/>
              <a:t>, </a:t>
            </a:r>
            <a:r>
              <a:rPr sz="1600" dirty="0" err="1"/>
              <a:t>খাদ্য</a:t>
            </a:r>
            <a:r>
              <a:rPr sz="1600" dirty="0"/>
              <a:t> </a:t>
            </a:r>
            <a:r>
              <a:rPr sz="1600" dirty="0" err="1"/>
              <a:t>চর্বণ</a:t>
            </a:r>
            <a:r>
              <a:rPr sz="1600" dirty="0"/>
              <a:t> </a:t>
            </a:r>
            <a:r>
              <a:rPr sz="1600" dirty="0" err="1"/>
              <a:t>থেকে</a:t>
            </a:r>
            <a:r>
              <a:rPr sz="1600" dirty="0"/>
              <a:t> </a:t>
            </a:r>
            <a:r>
              <a:rPr sz="1600" dirty="0" err="1"/>
              <a:t>পরিপাক</a:t>
            </a:r>
            <a:r>
              <a:rPr sz="1600" dirty="0"/>
              <a:t> ও </a:t>
            </a:r>
            <a:r>
              <a:rPr sz="1600" dirty="0" err="1"/>
              <a:t>মলত্যাগ</a:t>
            </a:r>
            <a:r>
              <a:rPr sz="1600" dirty="0"/>
              <a:t>, </a:t>
            </a:r>
            <a:r>
              <a:rPr sz="1600" dirty="0" err="1"/>
              <a:t>শারীরিক</a:t>
            </a:r>
            <a:r>
              <a:rPr sz="1600" dirty="0"/>
              <a:t> </a:t>
            </a:r>
            <a:r>
              <a:rPr sz="1600" dirty="0" err="1"/>
              <a:t>চলন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ইউনানী ও আধুনিক শারীরতত্ত্বের ট্রায়াড ম্যাপিং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638327"/>
              </p:ext>
            </p:extLst>
          </p:nvPr>
        </p:nvGraphicFramePr>
        <p:xfrm>
          <a:off x="731520" y="1463040"/>
          <a:ext cx="9301493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3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পর্যায়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ইউনানী ভূমিকা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আধুনিক সমতুল্য শারীরতত্ত্ব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আরওয়াহ (Arwah)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 err="1"/>
                        <a:t>সূক্ষ্ম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বাষ্পীয়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মাধ্যম</a:t>
                      </a:r>
                      <a:r>
                        <a:rPr sz="1600" dirty="0"/>
                        <a:t> ও </a:t>
                      </a:r>
                      <a:r>
                        <a:rPr sz="1600" dirty="0" err="1"/>
                        <a:t>জীবনী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পরিবাহক</a:t>
                      </a:r>
                      <a:endParaRPr sz="16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sz="1600" dirty="0" err="1"/>
                        <a:t>ধমনিস্থ</a:t>
                      </a:r>
                      <a:r>
                        <a:rPr lang="en-US" sz="1600" dirty="0"/>
                        <a:t> O</a:t>
                      </a:r>
                      <a:r>
                        <a:rPr lang="en-US" sz="1200" dirty="0"/>
                        <a:t>2 </a:t>
                      </a:r>
                      <a:r>
                        <a:rPr sz="1600" dirty="0" err="1"/>
                        <a:t>সংবহন</a:t>
                      </a:r>
                      <a:r>
                        <a:rPr sz="1600" dirty="0"/>
                        <a:t>, </a:t>
                      </a:r>
                      <a:r>
                        <a:rPr sz="1600" dirty="0" err="1"/>
                        <a:t>হিমোগ্লোবিন</a:t>
                      </a:r>
                      <a:r>
                        <a:rPr sz="1600" dirty="0"/>
                        <a:t> ও </a:t>
                      </a:r>
                      <a:r>
                        <a:rPr sz="1600" dirty="0" err="1"/>
                        <a:t>মাইটোকন্ড্রিয়াল</a:t>
                      </a:r>
                      <a:r>
                        <a:rPr sz="1600" dirty="0"/>
                        <a:t> ATP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কোয়াহ (Quwa)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অঙ্গের অন্তর্নিহিত ক্ষমতা ও কর্মদক্ষতা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রিসেপ্টর, এনজাইম অ্যাক্টিভিটি ও হরমোনাল রেগুলেশন</a:t>
                      </a:r>
                    </a:p>
                  </a:txBody>
                  <a:tcPr>
                    <a:solidFill>
                      <a:srgbClr val="EB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আফ'আল (Af'al)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চূড়ান্ত দৃশ্যমান শারীরিক ক্রিয়াকলাপ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rPr dirty="0" err="1"/>
                        <a:t>কার্ডিয়াক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আউটপুট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পেরিস্টালসিস</a:t>
                      </a:r>
                      <a:r>
                        <a:rPr dirty="0"/>
                        <a:t> ও </a:t>
                      </a:r>
                      <a:r>
                        <a:rPr dirty="0" err="1"/>
                        <a:t>নিউরাল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রিফ্লেক্স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ইলমুল আদভিয়ায় ড্রাগ ক্লাসিফিকেশন ও ট্রায়াড়ের প্রভাব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মুহাররিকাত</a:t>
            </a:r>
            <a:r>
              <a:rPr sz="1600" dirty="0"/>
              <a:t> (Stimulants)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আরওয়াহর</a:t>
            </a:r>
            <a:r>
              <a:rPr sz="1600" dirty="0"/>
              <a:t> </a:t>
            </a:r>
            <a:r>
              <a:rPr sz="1600" dirty="0" err="1"/>
              <a:t>গতি</a:t>
            </a:r>
            <a:r>
              <a:rPr sz="1600" dirty="0"/>
              <a:t> </a:t>
            </a:r>
            <a:r>
              <a:rPr sz="1600" dirty="0" err="1"/>
              <a:t>বাড়িয়ে</a:t>
            </a:r>
            <a:r>
              <a:rPr sz="1600" dirty="0"/>
              <a:t> </a:t>
            </a:r>
            <a:r>
              <a:rPr sz="1600" dirty="0" err="1"/>
              <a:t>কোয়াহকে</a:t>
            </a:r>
            <a:r>
              <a:rPr sz="1600" dirty="0"/>
              <a:t> </a:t>
            </a:r>
            <a:r>
              <a:rPr sz="1600" dirty="0" err="1"/>
              <a:t>উদ্দীপিত</a:t>
            </a:r>
            <a:r>
              <a:rPr sz="1600" dirty="0"/>
              <a:t> </a:t>
            </a:r>
            <a:r>
              <a:rPr sz="1600" dirty="0" err="1"/>
              <a:t>করে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উদাহরণ</a:t>
            </a:r>
            <a:r>
              <a:rPr sz="1600" dirty="0"/>
              <a:t>: </a:t>
            </a:r>
            <a:r>
              <a:rPr sz="1600" dirty="0" err="1"/>
              <a:t>এফিড্রিন</a:t>
            </a:r>
            <a:r>
              <a:rPr sz="1600" dirty="0"/>
              <a:t>/</a:t>
            </a:r>
            <a:r>
              <a:rPr sz="1600" dirty="0" err="1"/>
              <a:t>ক্যাফেইন</a:t>
            </a:r>
            <a:r>
              <a:rPr sz="1600" dirty="0"/>
              <a:t> </a:t>
            </a:r>
            <a:r>
              <a:rPr sz="1600" dirty="0" err="1"/>
              <a:t>সমৃদ্ধ</a:t>
            </a:r>
            <a:r>
              <a:rPr sz="1600" dirty="0"/>
              <a:t> </a:t>
            </a:r>
            <a:r>
              <a:rPr sz="1600" dirty="0" err="1"/>
              <a:t>ভেষজ</a:t>
            </a:r>
            <a:r>
              <a:rPr sz="1600" dirty="0"/>
              <a:t>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মুসাক্কিনাত</a:t>
            </a:r>
            <a:r>
              <a:rPr sz="1600" dirty="0"/>
              <a:t> (Sedatives)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অতিরিক্ত</a:t>
            </a:r>
            <a:r>
              <a:rPr sz="1600" dirty="0"/>
              <a:t> </a:t>
            </a:r>
            <a:r>
              <a:rPr sz="1600" dirty="0" err="1"/>
              <a:t>সক্রিয়</a:t>
            </a:r>
            <a:r>
              <a:rPr sz="1600" dirty="0"/>
              <a:t> </a:t>
            </a:r>
            <a:r>
              <a:rPr sz="1600" dirty="0" err="1"/>
              <a:t>কোয়াহ</a:t>
            </a:r>
            <a:r>
              <a:rPr sz="1600" dirty="0"/>
              <a:t>-ই-</a:t>
            </a:r>
            <a:r>
              <a:rPr sz="1600" dirty="0" err="1"/>
              <a:t>নাফসানিয়াহকে</a:t>
            </a:r>
            <a:r>
              <a:rPr sz="1600" dirty="0"/>
              <a:t> </a:t>
            </a:r>
            <a:r>
              <a:rPr sz="1600" dirty="0" err="1"/>
              <a:t>প্রশমিত</a:t>
            </a:r>
            <a:r>
              <a:rPr sz="1600" dirty="0"/>
              <a:t> </a:t>
            </a:r>
            <a:r>
              <a:rPr sz="1600" dirty="0" err="1"/>
              <a:t>করে</a:t>
            </a:r>
            <a:r>
              <a:rPr sz="1600" dirty="0"/>
              <a:t> </a:t>
            </a:r>
            <a:r>
              <a:rPr sz="1600" dirty="0" err="1"/>
              <a:t>ব্যথা</a:t>
            </a:r>
            <a:r>
              <a:rPr sz="1600" dirty="0"/>
              <a:t> ও </a:t>
            </a:r>
            <a:r>
              <a:rPr sz="1600" dirty="0" err="1"/>
              <a:t>অস্থিরতা</a:t>
            </a:r>
            <a:r>
              <a:rPr sz="1600" dirty="0"/>
              <a:t> </a:t>
            </a:r>
            <a:r>
              <a:rPr sz="1600" dirty="0" err="1"/>
              <a:t>কমায়</a:t>
            </a:r>
            <a:r>
              <a:rPr sz="1600" dirty="0"/>
              <a:t>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মুকাব্বিয়াত</a:t>
            </a:r>
            <a:r>
              <a:rPr sz="1600" dirty="0"/>
              <a:t> (Tonics)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কুওয়াত</a:t>
            </a:r>
            <a:r>
              <a:rPr sz="1600" dirty="0"/>
              <a:t>-ই-</a:t>
            </a:r>
            <a:r>
              <a:rPr sz="1600" dirty="0" err="1"/>
              <a:t>তবাইয়াহ</a:t>
            </a:r>
            <a:r>
              <a:rPr sz="1600" dirty="0"/>
              <a:t> ও </a:t>
            </a:r>
            <a:r>
              <a:rPr sz="1600" dirty="0" err="1"/>
              <a:t>লিভার</a:t>
            </a:r>
            <a:r>
              <a:rPr sz="1600" dirty="0"/>
              <a:t> </a:t>
            </a:r>
            <a:r>
              <a:rPr sz="1600" dirty="0" err="1"/>
              <a:t>মেটাবলিজম</a:t>
            </a:r>
            <a:r>
              <a:rPr sz="1600" dirty="0"/>
              <a:t> </a:t>
            </a:r>
            <a:r>
              <a:rPr sz="1600" dirty="0" err="1"/>
              <a:t>বাড়িয়ে</a:t>
            </a:r>
            <a:r>
              <a:rPr sz="1600" dirty="0"/>
              <a:t> </a:t>
            </a:r>
            <a:r>
              <a:rPr sz="1600" dirty="0" err="1"/>
              <a:t>সাধারণ</a:t>
            </a:r>
            <a:r>
              <a:rPr sz="1600" dirty="0"/>
              <a:t> </a:t>
            </a:r>
            <a:r>
              <a:rPr sz="1600" dirty="0" err="1"/>
              <a:t>শারীরিক</a:t>
            </a:r>
            <a:r>
              <a:rPr sz="1600" dirty="0"/>
              <a:t> </a:t>
            </a:r>
            <a:r>
              <a:rPr sz="1600" dirty="0" err="1"/>
              <a:t>শক্তি</a:t>
            </a:r>
            <a:r>
              <a:rPr sz="1600" dirty="0"/>
              <a:t> </a:t>
            </a:r>
            <a:r>
              <a:rPr sz="1600" dirty="0" err="1"/>
              <a:t>জোগায়</a:t>
            </a:r>
            <a:r>
              <a:rPr sz="1600" dirty="0"/>
              <a:t>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মুফাররিহাত</a:t>
            </a:r>
            <a:r>
              <a:rPr sz="1600" dirty="0"/>
              <a:t> (Exhilarants)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রূহ</a:t>
            </a:r>
            <a:r>
              <a:rPr sz="1600" dirty="0"/>
              <a:t>-ই-</a:t>
            </a:r>
            <a:r>
              <a:rPr sz="1600" dirty="0" err="1"/>
              <a:t>হায়ওয়ানিয়াহ</a:t>
            </a:r>
            <a:r>
              <a:rPr sz="1600" dirty="0"/>
              <a:t> ও </a:t>
            </a:r>
            <a:r>
              <a:rPr sz="1600" dirty="0" err="1"/>
              <a:t>নাফসানিয়াহকে</a:t>
            </a:r>
            <a:r>
              <a:rPr sz="1600" dirty="0"/>
              <a:t> </a:t>
            </a:r>
            <a:r>
              <a:rPr sz="1600" dirty="0" err="1"/>
              <a:t>পুষ্টি</a:t>
            </a:r>
            <a:r>
              <a:rPr sz="1600" dirty="0"/>
              <a:t> </a:t>
            </a:r>
            <a:r>
              <a:rPr sz="1600" dirty="0" err="1"/>
              <a:t>দিয়ে</a:t>
            </a:r>
            <a:r>
              <a:rPr sz="1600" dirty="0"/>
              <a:t> </a:t>
            </a:r>
            <a:r>
              <a:rPr sz="1600" dirty="0" err="1"/>
              <a:t>মানসিক</a:t>
            </a:r>
            <a:r>
              <a:rPr sz="1600" dirty="0"/>
              <a:t> </a:t>
            </a:r>
            <a:r>
              <a:rPr sz="1600" dirty="0" err="1"/>
              <a:t>সতেজতা</a:t>
            </a:r>
            <a:r>
              <a:rPr sz="1600" dirty="0"/>
              <a:t> </a:t>
            </a:r>
            <a:r>
              <a:rPr sz="1600" dirty="0" err="1"/>
              <a:t>আনে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ক্লিনিক্যাল কেস স্টাডি — ধারণাগত মেলবন্ধন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লক্ষণ</a:t>
            </a:r>
            <a:r>
              <a:rPr sz="1600" dirty="0"/>
              <a:t>: </a:t>
            </a:r>
            <a:r>
              <a:rPr sz="1600" dirty="0" err="1"/>
              <a:t>দীর্ঘমেয়াদি</a:t>
            </a:r>
            <a:r>
              <a:rPr sz="1600" dirty="0"/>
              <a:t> </a:t>
            </a:r>
            <a:r>
              <a:rPr sz="1600" dirty="0" err="1"/>
              <a:t>শারীরিক</a:t>
            </a:r>
            <a:r>
              <a:rPr sz="1600" dirty="0"/>
              <a:t> </a:t>
            </a:r>
            <a:r>
              <a:rPr sz="1600" dirty="0" err="1"/>
              <a:t>ক্লান্তি</a:t>
            </a:r>
            <a:r>
              <a:rPr sz="1600" dirty="0"/>
              <a:t> ও </a:t>
            </a:r>
            <a:r>
              <a:rPr sz="1600" dirty="0" err="1"/>
              <a:t>দুর্বলতা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ইউনানী</a:t>
            </a:r>
            <a:r>
              <a:rPr sz="1600" dirty="0"/>
              <a:t> </a:t>
            </a:r>
            <a:r>
              <a:rPr sz="1600" dirty="0" err="1"/>
              <a:t>ডায়াগনোসিস</a:t>
            </a:r>
            <a:r>
              <a:rPr sz="1600" dirty="0"/>
              <a:t>: </a:t>
            </a:r>
            <a:r>
              <a:rPr sz="1600" dirty="0" err="1"/>
              <a:t>আরওয়াহর</a:t>
            </a:r>
            <a:r>
              <a:rPr sz="1600" dirty="0"/>
              <a:t> </a:t>
            </a:r>
            <a:r>
              <a:rPr sz="1600" dirty="0" err="1"/>
              <a:t>হ্রাস</a:t>
            </a:r>
            <a:r>
              <a:rPr sz="1600" dirty="0"/>
              <a:t> </a:t>
            </a:r>
            <a:r>
              <a:rPr sz="1600" dirty="0" err="1"/>
              <a:t>এবং</a:t>
            </a:r>
            <a:r>
              <a:rPr sz="1600" dirty="0"/>
              <a:t> </a:t>
            </a:r>
            <a:r>
              <a:rPr sz="1600" dirty="0" err="1"/>
              <a:t>কুওয়াত</a:t>
            </a:r>
            <a:r>
              <a:rPr sz="1600" dirty="0"/>
              <a:t>-ই-</a:t>
            </a:r>
            <a:r>
              <a:rPr sz="1600" dirty="0" err="1"/>
              <a:t>তবাইয়াহর</a:t>
            </a:r>
            <a:r>
              <a:rPr sz="1600" dirty="0"/>
              <a:t> </a:t>
            </a:r>
            <a:r>
              <a:rPr sz="1600" dirty="0" err="1"/>
              <a:t>দুর্বলতা</a:t>
            </a:r>
            <a:r>
              <a:rPr sz="1600" dirty="0"/>
              <a:t> (</a:t>
            </a:r>
            <a:r>
              <a:rPr sz="1600" dirty="0" err="1"/>
              <a:t>Zo'f</a:t>
            </a:r>
            <a:r>
              <a:rPr sz="1600" dirty="0"/>
              <a:t>-e-</a:t>
            </a:r>
            <a:r>
              <a:rPr sz="1600" dirty="0" err="1"/>
              <a:t>A'za</a:t>
            </a:r>
            <a:r>
              <a:rPr sz="1600" dirty="0"/>
              <a:t>)।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আধুনিক</a:t>
            </a:r>
            <a:r>
              <a:rPr sz="1600" dirty="0"/>
              <a:t> </a:t>
            </a:r>
            <a:r>
              <a:rPr sz="1600" dirty="0" err="1"/>
              <a:t>ডায়াগনোসিস</a:t>
            </a:r>
            <a:r>
              <a:rPr sz="1600" dirty="0"/>
              <a:t>: </a:t>
            </a:r>
            <a:r>
              <a:rPr sz="1600" dirty="0" err="1"/>
              <a:t>সেলুলার</a:t>
            </a:r>
            <a:r>
              <a:rPr sz="1600" dirty="0"/>
              <a:t> </a:t>
            </a:r>
            <a:r>
              <a:rPr sz="1600" dirty="0" err="1"/>
              <a:t>হাইপোক্সিয়া</a:t>
            </a:r>
            <a:r>
              <a:rPr sz="1600" dirty="0"/>
              <a:t>, </a:t>
            </a:r>
            <a:r>
              <a:rPr sz="1600" dirty="0" err="1"/>
              <a:t>রক্তস্বল্পতা</a:t>
            </a:r>
            <a:r>
              <a:rPr sz="1600" dirty="0"/>
              <a:t> ও </a:t>
            </a:r>
            <a:r>
              <a:rPr sz="1600" dirty="0" err="1"/>
              <a:t>এটিপি</a:t>
            </a:r>
            <a:r>
              <a:rPr sz="1600" dirty="0"/>
              <a:t> </a:t>
            </a:r>
            <a:r>
              <a:rPr sz="1600" dirty="0" err="1"/>
              <a:t>উৎপাদনের</a:t>
            </a:r>
            <a:r>
              <a:rPr sz="1600" dirty="0"/>
              <a:t> </a:t>
            </a:r>
            <a:r>
              <a:rPr sz="1600" dirty="0" err="1"/>
              <a:t>ঘাটতি</a:t>
            </a:r>
            <a:r>
              <a:rPr sz="1600" dirty="0"/>
              <a:t>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চিকিৎসা</a:t>
            </a:r>
            <a:r>
              <a:rPr sz="1600" dirty="0"/>
              <a:t> </a:t>
            </a:r>
            <a:r>
              <a:rPr sz="1600" dirty="0" err="1"/>
              <a:t>কৌশল</a:t>
            </a:r>
            <a:r>
              <a:rPr sz="1600" dirty="0"/>
              <a:t> (Management)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ইলমুল</a:t>
            </a:r>
            <a:r>
              <a:rPr sz="1600" dirty="0"/>
              <a:t> </a:t>
            </a:r>
            <a:r>
              <a:rPr sz="1600" dirty="0" err="1"/>
              <a:t>আদভিয়া</a:t>
            </a:r>
            <a:r>
              <a:rPr sz="1600" dirty="0"/>
              <a:t> </a:t>
            </a:r>
            <a:r>
              <a:rPr sz="1600" dirty="0" err="1"/>
              <a:t>অনুযায়ী</a:t>
            </a:r>
            <a:r>
              <a:rPr sz="1600" dirty="0"/>
              <a:t>: </a:t>
            </a:r>
            <a:r>
              <a:rPr sz="1600" dirty="0" err="1"/>
              <a:t>মুকাব্বিয়াত</a:t>
            </a:r>
            <a:r>
              <a:rPr sz="1600" dirty="0"/>
              <a:t> ও </a:t>
            </a:r>
            <a:r>
              <a:rPr sz="1600" dirty="0" err="1"/>
              <a:t>মুফাররিহাত</a:t>
            </a:r>
            <a:r>
              <a:rPr sz="1600" dirty="0"/>
              <a:t> </a:t>
            </a:r>
            <a:r>
              <a:rPr sz="1600" dirty="0" err="1"/>
              <a:t>ড্রাগ</a:t>
            </a:r>
            <a:r>
              <a:rPr sz="1600" dirty="0"/>
              <a:t> </a:t>
            </a:r>
            <a:r>
              <a:rPr sz="1600" dirty="0" err="1"/>
              <a:t>প্রয়োগ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শারীরবৃত্তীয়</a:t>
            </a:r>
            <a:r>
              <a:rPr sz="1600" dirty="0"/>
              <a:t> </a:t>
            </a:r>
            <a:r>
              <a:rPr sz="1600" dirty="0" err="1"/>
              <a:t>ফল</a:t>
            </a:r>
            <a:r>
              <a:rPr sz="1600" dirty="0"/>
              <a:t>: </a:t>
            </a:r>
            <a:r>
              <a:rPr sz="1600" dirty="0" err="1"/>
              <a:t>আরওয়াহ</a:t>
            </a:r>
            <a:r>
              <a:rPr sz="1600" dirty="0"/>
              <a:t> </a:t>
            </a:r>
            <a:r>
              <a:rPr sz="1600" dirty="0" err="1"/>
              <a:t>পুনরুজ্জীবিত</a:t>
            </a:r>
            <a:r>
              <a:rPr sz="1600" dirty="0"/>
              <a:t> </a:t>
            </a:r>
            <a:r>
              <a:rPr sz="1600" dirty="0" err="1"/>
              <a:t>কোয়াহ</a:t>
            </a:r>
            <a:r>
              <a:rPr sz="1600" dirty="0"/>
              <a:t> ও </a:t>
            </a:r>
            <a:r>
              <a:rPr sz="1600" dirty="0" err="1"/>
              <a:t>আফ’আল</a:t>
            </a:r>
            <a:r>
              <a:rPr sz="1600" dirty="0"/>
              <a:t> </a:t>
            </a:r>
            <a:r>
              <a:rPr sz="1600" dirty="0" err="1"/>
              <a:t>স্বাভাবিকীকরণ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000" b="1">
                <a:solidFill>
                  <a:srgbClr val="35A29F"/>
                </a:solidFill>
              </a:defRPr>
            </a:pPr>
            <a:r>
              <a:t>ইউনানী শারীরতত্ত্ব ও ইলমুল আদভিয়া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লেকচার সারসংক্ষেপ (Key Takeaways)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35A29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500" b="1">
                <a:solidFill>
                  <a:srgbClr val="102C57"/>
                </a:solidFill>
              </a:defRPr>
            </a:pPr>
            <a:r>
              <a:rPr sz="1600" dirty="0" err="1"/>
              <a:t>মূল</a:t>
            </a:r>
            <a:r>
              <a:rPr sz="1600" dirty="0"/>
              <a:t> </a:t>
            </a:r>
            <a:r>
              <a:rPr sz="1600" dirty="0" err="1"/>
              <a:t>শিক্ষা</a:t>
            </a:r>
            <a:r>
              <a:rPr sz="1600" dirty="0"/>
              <a:t> ও </a:t>
            </a:r>
            <a:r>
              <a:rPr sz="1600" dirty="0" err="1"/>
              <a:t>উপলব্ধি</a:t>
            </a:r>
            <a:endParaRPr sz="1600" dirty="0"/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আরওয়াহ</a:t>
            </a:r>
            <a:r>
              <a:rPr sz="1600" dirty="0"/>
              <a:t>, </a:t>
            </a:r>
            <a:r>
              <a:rPr sz="1600" dirty="0" err="1"/>
              <a:t>কোয়াহ</a:t>
            </a:r>
            <a:r>
              <a:rPr sz="1600" dirty="0"/>
              <a:t> </a:t>
            </a:r>
            <a:r>
              <a:rPr sz="1600" dirty="0" err="1"/>
              <a:t>এবং</a:t>
            </a:r>
            <a:r>
              <a:rPr sz="1600" dirty="0"/>
              <a:t> </a:t>
            </a:r>
            <a:r>
              <a:rPr sz="1600" dirty="0" err="1"/>
              <a:t>আফ’আল</a:t>
            </a:r>
            <a:r>
              <a:rPr sz="1600" dirty="0"/>
              <a:t> </a:t>
            </a:r>
            <a:r>
              <a:rPr sz="1600" dirty="0" err="1"/>
              <a:t>হলো</a:t>
            </a:r>
            <a:r>
              <a:rPr sz="1600" dirty="0"/>
              <a:t> </a:t>
            </a:r>
            <a:r>
              <a:rPr sz="1600" dirty="0" err="1"/>
              <a:t>যথাক্রমে</a:t>
            </a:r>
            <a:r>
              <a:rPr sz="1600" dirty="0"/>
              <a:t> </a:t>
            </a:r>
            <a:r>
              <a:rPr sz="1600" dirty="0" err="1"/>
              <a:t>জ্বালানি</a:t>
            </a:r>
            <a:r>
              <a:rPr sz="1600" dirty="0"/>
              <a:t> </a:t>
            </a:r>
            <a:r>
              <a:rPr lang="en-US" sz="1600" dirty="0"/>
              <a:t>, </a:t>
            </a:r>
            <a:r>
              <a:rPr sz="1600" dirty="0" err="1"/>
              <a:t>সামর্থ্য</a:t>
            </a:r>
            <a:r>
              <a:rPr sz="1600" dirty="0"/>
              <a:t> </a:t>
            </a:r>
            <a:r>
              <a:rPr lang="en-US" sz="1600" dirty="0"/>
              <a:t>,</a:t>
            </a:r>
            <a:r>
              <a:rPr sz="1600" dirty="0" err="1"/>
              <a:t>কাজের</a:t>
            </a:r>
            <a:r>
              <a:rPr sz="1600" dirty="0"/>
              <a:t> </a:t>
            </a:r>
            <a:r>
              <a:rPr sz="1600" dirty="0" err="1"/>
              <a:t>অবিচ্ছেদ্য</a:t>
            </a:r>
            <a:r>
              <a:rPr sz="1600" dirty="0"/>
              <a:t> </a:t>
            </a:r>
            <a:r>
              <a:rPr sz="1600" dirty="0" err="1"/>
              <a:t>শারীরবৃত্তীয়</a:t>
            </a:r>
            <a:r>
              <a:rPr sz="1600" dirty="0"/>
              <a:t> </a:t>
            </a:r>
            <a:r>
              <a:rPr sz="1600" dirty="0" err="1"/>
              <a:t>ধারা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প্রাচীন</a:t>
            </a:r>
            <a:r>
              <a:rPr sz="1600" dirty="0"/>
              <a:t> </a:t>
            </a:r>
            <a:r>
              <a:rPr sz="1600" dirty="0" err="1"/>
              <a:t>ইউনানী</a:t>
            </a:r>
            <a:r>
              <a:rPr sz="1600" dirty="0"/>
              <a:t> </a:t>
            </a:r>
            <a:r>
              <a:rPr sz="1600" dirty="0" err="1"/>
              <a:t>চিকিৎসা</a:t>
            </a:r>
            <a:r>
              <a:rPr sz="1600" dirty="0"/>
              <a:t> </a:t>
            </a:r>
            <a:r>
              <a:rPr sz="1600" dirty="0" err="1"/>
              <a:t>দর্শন</a:t>
            </a:r>
            <a:r>
              <a:rPr sz="1600" dirty="0"/>
              <a:t> </a:t>
            </a:r>
            <a:r>
              <a:rPr sz="1600" dirty="0" err="1"/>
              <a:t>মূলত</a:t>
            </a:r>
            <a:r>
              <a:rPr sz="1600" dirty="0"/>
              <a:t> </a:t>
            </a:r>
            <a:r>
              <a:rPr sz="1600" dirty="0" err="1"/>
              <a:t>আধুনিক</a:t>
            </a:r>
            <a:r>
              <a:rPr sz="1600" dirty="0"/>
              <a:t> </a:t>
            </a:r>
            <a:r>
              <a:rPr sz="1600" dirty="0" err="1"/>
              <a:t>সেলুলার</a:t>
            </a:r>
            <a:r>
              <a:rPr sz="1600" dirty="0"/>
              <a:t> </a:t>
            </a:r>
            <a:r>
              <a:rPr sz="1600" dirty="0" err="1"/>
              <a:t>ফিজিওলজি</a:t>
            </a:r>
            <a:r>
              <a:rPr sz="1600" dirty="0"/>
              <a:t> ও </a:t>
            </a:r>
            <a:r>
              <a:rPr sz="1600" dirty="0" err="1"/>
              <a:t>মেটাবলিজমের</a:t>
            </a:r>
            <a:r>
              <a:rPr sz="1600" dirty="0"/>
              <a:t> </a:t>
            </a:r>
            <a:r>
              <a:rPr sz="1600" dirty="0" err="1"/>
              <a:t>একটি</a:t>
            </a:r>
            <a:r>
              <a:rPr sz="1600" dirty="0"/>
              <a:t> </a:t>
            </a:r>
            <a:r>
              <a:rPr sz="1600" dirty="0" err="1"/>
              <a:t>দূরদর্শী</a:t>
            </a:r>
            <a:r>
              <a:rPr sz="1600" dirty="0"/>
              <a:t> </a:t>
            </a:r>
            <a:r>
              <a:rPr sz="1600" dirty="0" err="1"/>
              <a:t>তাত্ত্বিক</a:t>
            </a:r>
            <a:r>
              <a:rPr sz="1600" dirty="0"/>
              <a:t> </a:t>
            </a:r>
            <a:r>
              <a:rPr sz="1600" dirty="0" err="1"/>
              <a:t>রূপ</a:t>
            </a:r>
            <a:r>
              <a:rPr sz="1600" dirty="0"/>
              <a:t>।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ইলমুল</a:t>
            </a:r>
            <a:r>
              <a:rPr sz="1600" dirty="0"/>
              <a:t> </a:t>
            </a:r>
            <a:r>
              <a:rPr sz="1600" dirty="0" err="1"/>
              <a:t>আদভিয়ায়</a:t>
            </a:r>
            <a:r>
              <a:rPr sz="1600" dirty="0"/>
              <a:t> </a:t>
            </a:r>
            <a:r>
              <a:rPr sz="1600" dirty="0" err="1"/>
              <a:t>ওষুধ</a:t>
            </a:r>
            <a:r>
              <a:rPr sz="1600" dirty="0"/>
              <a:t> </a:t>
            </a:r>
            <a:r>
              <a:rPr sz="1600" dirty="0" err="1"/>
              <a:t>নির্বাচনের</a:t>
            </a:r>
            <a:r>
              <a:rPr sz="1600" dirty="0"/>
              <a:t> </a:t>
            </a:r>
            <a:r>
              <a:rPr sz="1600" dirty="0" err="1"/>
              <a:t>মূল</a:t>
            </a:r>
            <a:r>
              <a:rPr sz="1600" dirty="0"/>
              <a:t> </a:t>
            </a:r>
            <a:r>
              <a:rPr sz="1600" dirty="0" err="1"/>
              <a:t>লক্ষ্য</a:t>
            </a:r>
            <a:r>
              <a:rPr sz="1600" dirty="0"/>
              <a:t> </a:t>
            </a:r>
            <a:r>
              <a:rPr sz="1600" dirty="0" err="1"/>
              <a:t>হলো</a:t>
            </a:r>
            <a:r>
              <a:rPr sz="1600" dirty="0"/>
              <a:t> </a:t>
            </a:r>
            <a:r>
              <a:rPr sz="1600" dirty="0" err="1"/>
              <a:t>এই</a:t>
            </a:r>
            <a:r>
              <a:rPr sz="1600" dirty="0"/>
              <a:t> </a:t>
            </a:r>
            <a:r>
              <a:rPr sz="1600" dirty="0" err="1"/>
              <a:t>ট্রায়াড়ের</a:t>
            </a:r>
            <a:r>
              <a:rPr sz="1600" dirty="0"/>
              <a:t> </a:t>
            </a:r>
            <a:r>
              <a:rPr sz="1600" dirty="0" err="1"/>
              <a:t>ভারসাম্যহীনতা</a:t>
            </a:r>
            <a:r>
              <a:rPr sz="1600" dirty="0"/>
              <a:t> </a:t>
            </a:r>
            <a:r>
              <a:rPr sz="1600" dirty="0" err="1"/>
              <a:t>দূর</a:t>
            </a:r>
            <a:r>
              <a:rPr sz="1600" dirty="0"/>
              <a:t> </a:t>
            </a:r>
            <a:r>
              <a:rPr sz="1600" dirty="0" err="1"/>
              <a:t>করে</a:t>
            </a:r>
            <a:r>
              <a:rPr sz="1600" dirty="0"/>
              <a:t> </a:t>
            </a:r>
            <a:r>
              <a:rPr sz="1600" dirty="0" err="1"/>
              <a:t>রোগ</a:t>
            </a:r>
            <a:r>
              <a:rPr sz="1600" dirty="0"/>
              <a:t> </a:t>
            </a:r>
            <a:r>
              <a:rPr sz="1600" dirty="0" err="1"/>
              <a:t>নিরাময়</a:t>
            </a:r>
            <a:r>
              <a:rPr sz="1600" dirty="0"/>
              <a:t> </a:t>
            </a:r>
            <a:r>
              <a:rPr sz="1600" dirty="0" err="1"/>
              <a:t>করা</a:t>
            </a:r>
            <a:r>
              <a:rPr sz="1600" dirty="0"/>
              <a:t>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0" y="1645920"/>
            <a:ext cx="7619695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35A2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0" rtlCol="0" anchor="ctr"/>
          <a:lstStyle/>
          <a:p>
            <a:pPr algn="ctr">
              <a:defRPr sz="2400" b="1">
                <a:solidFill>
                  <a:srgbClr val="102C57"/>
                </a:solidFill>
              </a:defRPr>
            </a:pPr>
            <a:r>
              <a:t>প্রশ্নোত্তর ও উন্মুক্ত আলোচনা (Q&amp;A)</a:t>
            </a:r>
          </a:p>
          <a:p>
            <a:pPr algn="ctr">
              <a:spcBef>
                <a:spcPts val="1500"/>
              </a:spcBef>
              <a:defRPr sz="1300">
                <a:solidFill>
                  <a:srgbClr val="64748B"/>
                </a:solidFill>
              </a:defRPr>
            </a:pPr>
            <a:r>
              <a:t>ইউনানী শারীরতত্ত্ব ও আধুনিক চিকিৎসাবিজ্ঞানের মেলবন্ধন বিষয়ে আপনাদের কোনো জিজ্ঞাসা থাকলে করতে পারেন।</a:t>
            </a:r>
          </a:p>
          <a:p>
            <a:pPr algn="ctr">
              <a:spcBef>
                <a:spcPts val="2000"/>
              </a:spcBef>
              <a:defRPr sz="2000" b="1">
                <a:solidFill>
                  <a:srgbClr val="35A29F"/>
                </a:solidFill>
              </a:defRPr>
            </a:pPr>
            <a:r>
              <a:t>ধন্যবাদ!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76</TotalTime>
  <Words>1300</Words>
  <Application>Microsoft Office PowerPoint</Application>
  <PresentationFormat>Widescreen</PresentationFormat>
  <Paragraphs>148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Laptop Core Tech</cp:lastModifiedBy>
  <cp:revision>3</cp:revision>
  <dcterms:created xsi:type="dcterms:W3CDTF">2013-01-27T09:14:16Z</dcterms:created>
  <dcterms:modified xsi:type="dcterms:W3CDTF">2026-08-25T06:33:37Z</dcterms:modified>
  <cp:category/>
</cp:coreProperties>
</file>